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Default Extension="jpeg" ContentType="image/jpeg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6858000" cx="12192000"/>
  <p:notesSz cx="6858000" cy="9144000"/>
  <p:embeddedFontLst>
    <p:embeddedFont>
      <p:font typeface="Noto Sans KR"/>
      <p:regular r:id="rId42"/>
      <p:bold r:id="rId43"/>
    </p:embeddedFont>
    <p:embeddedFont>
      <p:font typeface="Noto Sans Medium"/>
      <p:regular r:id="rId44"/>
      <p:bold r:id="rId45"/>
      <p:italic r:id="rId46"/>
      <p:boldItalic r:id="rId47"/>
    </p:embeddedFont>
    <p:embeddedFont>
      <p:font typeface="Noto Sans"/>
      <p:regular r:id="rId48"/>
      <p:bold r:id="rId49"/>
      <p:italic r:id="rId50"/>
      <p:boldItalic r:id="rId51"/>
    </p:embeddedFont>
    <p:embeddedFont>
      <p:font typeface="Corbel"/>
      <p:regular r:id="rId52"/>
      <p:bold r:id="rId53"/>
      <p:italic r:id="rId54"/>
      <p:boldItalic r:id="rId55"/>
    </p:embeddedFont>
    <p:embeddedFont>
      <p:font typeface="Gothic A1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1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63107B-007C-4EBA-A4AD-BE17A3334324}">
  <a:tblStyle styleId="{7463107B-007C-4EBA-A4AD-BE17A33343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144E48-DEBB-4059-A88A-F5663A48741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5D8D6A1-8E2E-4BD1-9240-B86D4B085E3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1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NotoSansKR-regular.fntdata"/><Relationship Id="rId41" Type="http://schemas.openxmlformats.org/officeDocument/2006/relationships/slide" Target="slides/slide34.xml"/><Relationship Id="rId44" Type="http://schemas.openxmlformats.org/officeDocument/2006/relationships/font" Target="fonts/NotoSansMedium-regular.fntdata"/><Relationship Id="rId43" Type="http://schemas.openxmlformats.org/officeDocument/2006/relationships/font" Target="fonts/NotoSansKR-bold.fntdata"/><Relationship Id="rId46" Type="http://schemas.openxmlformats.org/officeDocument/2006/relationships/font" Target="fonts/NotoSansMedium-italic.fntdata"/><Relationship Id="rId45" Type="http://schemas.openxmlformats.org/officeDocument/2006/relationships/font" Target="fonts/Noto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NotoSans-regular.fntdata"/><Relationship Id="rId47" Type="http://schemas.openxmlformats.org/officeDocument/2006/relationships/font" Target="fonts/NotoSansMedium-boldItalic.fntdata"/><Relationship Id="rId49" Type="http://schemas.openxmlformats.org/officeDocument/2006/relationships/font" Target="fonts/Noto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NotoSans-boldItalic.fntdata"/><Relationship Id="rId50" Type="http://schemas.openxmlformats.org/officeDocument/2006/relationships/font" Target="fonts/NotoSans-italic.fntdata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4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3.xml"/><Relationship Id="rId54" Type="http://schemas.openxmlformats.org/officeDocument/2006/relationships/font" Target="fonts/Corbel-italic.fntdata"/><Relationship Id="rId13" Type="http://schemas.openxmlformats.org/officeDocument/2006/relationships/slide" Target="slides/slide6.xml"/><Relationship Id="rId57" Type="http://schemas.openxmlformats.org/officeDocument/2006/relationships/font" Target="fonts/GothicA1-bold.fntdata"/><Relationship Id="rId12" Type="http://schemas.openxmlformats.org/officeDocument/2006/relationships/slide" Target="slides/slide5.xml"/><Relationship Id="rId56" Type="http://schemas.openxmlformats.org/officeDocument/2006/relationships/font" Target="fonts/GothicA1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aa99059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62" name="Google Shape;162;g35aa9905959_0_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c0c1b5e27_0_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c0c1b5e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73" name="Google Shape;173;g38c0c1b5e27_0_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7c1c9a10d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57c1c9a10d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aa9905959_0_1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5aa990595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-21590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g35aa9905959_0_1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11ebea44e_0_1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e11ebea44e_0_1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07" name="Google Shape;207;g3e11ebea44e_0_1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11ebea44e_0_10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11ebea44e_0_10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17" name="Google Shape;217;g3e11ebea44e_0_10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aa9905959_0_235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5aa9905959_0_235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28" name="Google Shape;228;g35aa9905959_0_235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aa9905959_0_243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5aa9905959_0_243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53" name="Google Shape;253;g35aa9905959_0_243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aa9905959_0_7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5aa9905959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-21590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g35aa9905959_0_7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aa9905959_0_251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5aa9905959_0_251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98" name="Google Shape;298;g35aa9905959_0_251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aa9905959_0_259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5aa9905959_0_259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310" name="Google Shape;310;g35aa9905959_0_259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603dc10f7_0_316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8603dc10f7_0_316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366" name="Google Shape;366;g38603dc10f7_0_316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aa9905959_0_267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5aa9905959_0_267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13" name="Google Shape;413;g35aa9905959_0_267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1e2c66b4c_0_8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a1e2c66b4c_0_8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24" name="Google Shape;424;g3a1e2c66b4c_0_8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a01bf4ece_0_3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aa01bf4ece_0_3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38" name="Google Shape;438;g3aa01bf4ece_0_3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6091ac6f3_0_0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a6091ac6f3_0_0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70" name="Google Shape;470;g3a6091ac6f3_0_0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603dc10f7_0_96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8603dc10f7_0_96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86" name="Google Shape;486;g38603dc10f7_0_96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5a86ca3f18_3_206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5a86ca3f18_3_206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502" name="Google Shape;502;g35a86ca3f18_3_206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aa9905959_6_64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5aa9905959_6_64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524" name="Google Shape;524;g35aa9905959_6_64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aa9905959_0_7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5aa9905959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-21590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2" name="Google Shape;542;g35aa9905959_0_7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aa9905959_0_283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5aa9905959_0_283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551" name="Google Shape;551;g35aa9905959_0_283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5a86ca3f18_2_159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5a86ca3f18_2_159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581" name="Google Shape;581;g35a86ca3f18_2_159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5a86ca3f18_2_221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5a86ca3f18_2_221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690" name="Google Shape;690;g35a86ca3f18_2_221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5b123cea16_4_1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5b123cea16_4_1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733" name="Google Shape;733;g35b123cea16_4_1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5b123cea16_1_38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5b123cea16_1_38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775" name="Google Shape;775;g35b123cea16_1_38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5b123cea16_1_228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35b123cea16_1_228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17" name="Google Shape;817;g35b123cea16_1_228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5aa9905959_0_9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5aa9905959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-21590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64" name="Google Shape;864;g35aa9905959_0_9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8603dc10f7_0_190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38603dc10f7_0_190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73" name="Google Shape;873;g38603dc10f7_0_190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5a86ca3f18_0_165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35a86ca3f18_0_165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925" name="Google Shape;925;g35a86ca3f18_0_165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5aa9905959_0_866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g35aa9905959_0_866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950" name="Google Shape;950;g35aa9905959_0_866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856331aa5b_0_213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856331aa5b_0_213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976" name="Google Shape;976;g3856331aa5b_0_213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856331aa5b_1_9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g3856331aa5b_1_9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988" name="Google Shape;988;g3856331aa5b_1_9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5aa9905959_0_347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g35aa9905959_0_347:notes"/>
          <p:cNvSpPr txBox="1"/>
          <p:nvPr>
            <p:ph idx="1" type="body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77" name="Google Shape;1077;g35aa9905959_0_347:notes"/>
          <p:cNvSpPr txBox="1"/>
          <p:nvPr>
            <p:ph idx="12" type="sldNum"/>
          </p:nvPr>
        </p:nvSpPr>
        <p:spPr>
          <a:xfrm>
            <a:off x="4143587" y="9119474"/>
            <a:ext cx="31698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5b123cea1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089" name="Google Shape;1089;g35b123cea16_0_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blue1.png" id="100" name="Google Shape;10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1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1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7" name="Google Shape;137;p2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jpe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jpe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jpeg"/><Relationship Id="rId5" Type="http://schemas.openxmlformats.org/officeDocument/2006/relationships/image" Target="../media/image17.jpeg"/><Relationship Id="rId6" Type="http://schemas.openxmlformats.org/officeDocument/2006/relationships/image" Target="../media/image19.jpeg"/><Relationship Id="rId7" Type="http://schemas.openxmlformats.org/officeDocument/2006/relationships/image" Target="../media/image15.jpe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2.jpeg"/><Relationship Id="rId9" Type="http://schemas.openxmlformats.org/officeDocument/2006/relationships/image" Target="../media/image25.jpeg"/><Relationship Id="rId5" Type="http://schemas.openxmlformats.org/officeDocument/2006/relationships/image" Target="../media/image11.jpeg"/><Relationship Id="rId6" Type="http://schemas.openxmlformats.org/officeDocument/2006/relationships/image" Target="../media/image14.jpeg"/><Relationship Id="rId7" Type="http://schemas.openxmlformats.org/officeDocument/2006/relationships/image" Target="../media/image16.jpeg"/><Relationship Id="rId8" Type="http://schemas.openxmlformats.org/officeDocument/2006/relationships/image" Target="../media/image24.jpe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34.jpe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image38.jpe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Relationship Id="rId4" Type="http://schemas.openxmlformats.org/officeDocument/2006/relationships/image" Target="../media/image46.jpeg"/><Relationship Id="rId10" Type="http://schemas.openxmlformats.org/officeDocument/2006/relationships/image" Target="../media/image50.png"/><Relationship Id="rId9" Type="http://schemas.openxmlformats.org/officeDocument/2006/relationships/image" Target="../media/image49.png"/><Relationship Id="rId5" Type="http://schemas.openxmlformats.org/officeDocument/2006/relationships/image" Target="../media/image47.jpeg"/><Relationship Id="rId6" Type="http://schemas.openxmlformats.org/officeDocument/2006/relationships/image" Target="../media/image48.jpeg"/><Relationship Id="rId7" Type="http://schemas.openxmlformats.org/officeDocument/2006/relationships/image" Target="../media/image3.png"/><Relationship Id="rId8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Relationship Id="rId4" Type="http://schemas.openxmlformats.org/officeDocument/2006/relationships/image" Target="../media/image55.jpeg"/><Relationship Id="rId10" Type="http://schemas.openxmlformats.org/officeDocument/2006/relationships/image" Target="../media/image56.png"/><Relationship Id="rId9" Type="http://schemas.openxmlformats.org/officeDocument/2006/relationships/image" Target="../media/image59.jpeg"/><Relationship Id="rId5" Type="http://schemas.openxmlformats.org/officeDocument/2006/relationships/image" Target="../media/image3.png"/><Relationship Id="rId6" Type="http://schemas.openxmlformats.org/officeDocument/2006/relationships/image" Target="../media/image60.jpe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61.jpeg"/><Relationship Id="rId10" Type="http://schemas.openxmlformats.org/officeDocument/2006/relationships/image" Target="../media/image63.png"/><Relationship Id="rId9" Type="http://schemas.openxmlformats.org/officeDocument/2006/relationships/image" Target="../media/image62.jpeg"/><Relationship Id="rId5" Type="http://schemas.openxmlformats.org/officeDocument/2006/relationships/image" Target="../media/image64.jpeg"/><Relationship Id="rId6" Type="http://schemas.openxmlformats.org/officeDocument/2006/relationships/image" Target="../media/image3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jpeg"/><Relationship Id="rId10" Type="http://schemas.openxmlformats.org/officeDocument/2006/relationships/image" Target="../media/image68.jpeg"/><Relationship Id="rId13" Type="http://schemas.openxmlformats.org/officeDocument/2006/relationships/image" Target="../media/image67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61.jpeg"/><Relationship Id="rId9" Type="http://schemas.openxmlformats.org/officeDocument/2006/relationships/image" Target="../media/image65.png"/><Relationship Id="rId14" Type="http://schemas.openxmlformats.org/officeDocument/2006/relationships/image" Target="../media/image70.jpeg"/><Relationship Id="rId5" Type="http://schemas.openxmlformats.org/officeDocument/2006/relationships/image" Target="../media/image64.jpeg"/><Relationship Id="rId6" Type="http://schemas.openxmlformats.org/officeDocument/2006/relationships/image" Target="../media/image3.png"/><Relationship Id="rId7" Type="http://schemas.openxmlformats.org/officeDocument/2006/relationships/image" Target="../media/image62.jpeg"/><Relationship Id="rId8" Type="http://schemas.openxmlformats.org/officeDocument/2006/relationships/image" Target="../media/image71.jpe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74.jpeg"/><Relationship Id="rId5" Type="http://schemas.openxmlformats.org/officeDocument/2006/relationships/image" Target="../media/image73.jpeg"/><Relationship Id="rId6" Type="http://schemas.openxmlformats.org/officeDocument/2006/relationships/image" Target="../media/image75.png"/><Relationship Id="rId7" Type="http://schemas.openxmlformats.org/officeDocument/2006/relationships/image" Target="../media/image76.jpe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hyperlink" Target="https://thumb.derweb.xyz:28714/d/f2f48ef4-b575-4534-917b-2407a9e5b8af/5adc609b-c43c-599e-9134-dd6af6d9ed35?orgId=1" TargetMode="External"/><Relationship Id="rId5" Type="http://schemas.openxmlformats.org/officeDocument/2006/relationships/hyperlink" Target="https://www.wksnt.com/51/136?utm_source=chatgpt.com" TargetMode="External"/><Relationship Id="rId6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644525" y="0"/>
            <a:ext cx="5181600" cy="6858000"/>
          </a:xfrm>
          <a:prstGeom prst="rect">
            <a:avLst/>
          </a:prstGeom>
          <a:solidFill>
            <a:schemeClr val="dk1">
              <a:alpha val="749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948050" y="2570075"/>
            <a:ext cx="84177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ko-KR" sz="3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[(주)무창]</a:t>
            </a:r>
            <a:r>
              <a:rPr b="1" lang="ko-KR" sz="3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3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ko-KR" sz="3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솔라쉐어바로 </a:t>
            </a:r>
            <a:r>
              <a:rPr b="1" lang="ko-KR" sz="3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(자가소비형 설비 리스)</a:t>
            </a:r>
            <a:endParaRPr b="1" sz="3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ko-KR" sz="3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사업 제안서</a:t>
            </a:r>
            <a:endParaRPr b="1" sz="3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779898" y="6236243"/>
            <a:ext cx="399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ⓒ2025 H Energy Co. ltd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955077" y="230971"/>
            <a:ext cx="1871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주식회사 에이치에너지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Google Shape;85;g27eaca9cdfb_0_256" id="168" name="Google Shape;168;p2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9533597" y="339827"/>
            <a:ext cx="557357" cy="17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그래픽 디자인, 흑백이(가) 표시된 사진&#10;&#10;자동 생성된 설명" id="169" name="Google Shape;169;p25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10286111" y="333375"/>
            <a:ext cx="1366140" cy="177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453000" y="171935"/>
            <a:ext cx="86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요약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0" y="15017"/>
            <a:ext cx="12192000" cy="6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28374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794733" y="1795065"/>
            <a:ext cx="374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ko-KR" sz="3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제안을 드리며</a:t>
            </a:r>
            <a:endParaRPr b="1" i="0" sz="3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11480800" y="8475133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>
            <a:off x="895200" y="2461081"/>
            <a:ext cx="2580300" cy="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6"/>
          <p:cNvCxnSpPr/>
          <p:nvPr/>
        </p:nvCxnSpPr>
        <p:spPr>
          <a:xfrm>
            <a:off x="5508667" y="383033"/>
            <a:ext cx="22800" cy="6089700"/>
          </a:xfrm>
          <a:prstGeom prst="straightConnector1">
            <a:avLst/>
          </a:prstGeom>
          <a:noFill/>
          <a:ln cap="flat" cmpd="sng" w="127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6"/>
          <p:cNvSpPr txBox="1"/>
          <p:nvPr/>
        </p:nvSpPr>
        <p:spPr>
          <a:xfrm>
            <a:off x="5730572" y="704734"/>
            <a:ext cx="575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ko-KR" sz="2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 내용 </a:t>
            </a:r>
            <a:endParaRPr b="1"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5707625" y="1220442"/>
            <a:ext cx="618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[352.95kW 솔라쉐어바로]</a:t>
            </a:r>
            <a:endParaRPr b="1"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872264" y="2696267"/>
            <a:ext cx="44232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에이치에너지는 (</a:t>
            </a: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주)무창</a:t>
            </a: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에 다음과 같은 제안을 드립니다.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 내용은 태양광 발전량을 직접 사용하며 전기료 절감을 받을 수 있는 솔라쉐어바로 모델이며, 현장에 맞추어 설비용량 산출, 발전량을 분석하여 최적의 사업모델을 제안드리고자 합니다. </a:t>
            </a:r>
            <a:endParaRPr b="0"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744675" y="1941014"/>
            <a:ext cx="61059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아산 (주)무창 사이트 전력사용량 분석 결과, 설치 가능 면적을 기준으로 한 최대 설치 용량 </a:t>
            </a:r>
            <a:r>
              <a:rPr b="1" lang="ko-KR" u="sng">
                <a:solidFill>
                  <a:schemeClr val="dk1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352.95kW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규모로 설치하고,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요금상계거래를 활용하여 초과 발전량에 대한 정산이 가능한 솔라쉐어바로 사업 모델을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적용하는것이 가장 효율적일 것으로 판단되어 이를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제안드립니다.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시스템의 설치 후 초기년도 322,730kWh의 태양광 에너지를 (초과발전량 30.41% 발생) 계약기간 20년동안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140원/kWh의 단가로 전력을 공급받으실 수 있습니다.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(REC, RE100 인증서 등 관련 수수료 별도)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이에 솔라쉐어바로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경제성은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첫해년도 기준 738만원, 전기요금 상승을 고려한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20년 누적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수익 비용은 7.09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억원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산출됩니다. 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, 스크린샷, 일렉트릭 블루, 패브릭이(가) 표시된 사진&#10;&#10;AI가 생성한 콘텐츠는 부정확할 수 있습니다.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61215" t="0"/>
          <a:stretch/>
        </p:blipFill>
        <p:spPr>
          <a:xfrm>
            <a:off x="0" y="0"/>
            <a:ext cx="4728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5281825" y="2022550"/>
            <a:ext cx="6221400" cy="22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회사 소개</a:t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AutoNum type="arabicPeriod"/>
            </a:pPr>
            <a:r>
              <a:rPr b="1"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사업 제안</a:t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AutoNum type="arabicPeriod"/>
            </a:pPr>
            <a:r>
              <a:rPr b="1"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시공계획</a:t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AutoNum type="arabicPeriod"/>
            </a:pPr>
            <a:r>
              <a:rPr b="1"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사후관리계획</a:t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67821" y="3059700"/>
            <a:ext cx="2344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ko-KR" sz="3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Chapter</a:t>
            </a:r>
            <a:endParaRPr i="0" sz="31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, 스크린샷, 일렉트릭 블루, 패브릭이(가) 표시된 사진&#10;&#10;AI가 생성한 콘텐츠는 부정확할 수 있습니다." id="200" name="Google Shape;2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/>
        </p:nvSpPr>
        <p:spPr>
          <a:xfrm>
            <a:off x="567819" y="3059688"/>
            <a:ext cx="636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ko-KR" sz="3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i="0" lang="ko-KR" sz="31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. 회사 소개</a:t>
            </a:r>
            <a:endParaRPr i="0" sz="31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폰트, 그래픽, 그래픽 디자인, 텍스트이(가) 표시된 사진&#10;&#10;AI가 생성한 콘텐츠는 부정확할 수 있습니다." id="202" name="Google Shape;2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119" y="391740"/>
            <a:ext cx="1059944" cy="2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11480800" y="8475133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29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9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1-1</a:t>
            </a: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 회사소개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25" y="805625"/>
            <a:ext cx="11108100" cy="54463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0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30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30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1-1</a:t>
            </a: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 회사소개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415684" y="1069106"/>
            <a:ext cx="458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325" y="1069106"/>
            <a:ext cx="10444912" cy="5237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31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1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1-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기술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력 및 보유자격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2928" y="5209675"/>
            <a:ext cx="4018416" cy="110172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6149300" y="3678175"/>
            <a:ext cx="48453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100" u="none" cap="none" strike="noStrike">
                <a:solidFill>
                  <a:srgbClr val="2E75B5"/>
                </a:solidFill>
                <a:latin typeface="Noto Sans KR"/>
                <a:ea typeface="Noto Sans KR"/>
                <a:cs typeface="Noto Sans KR"/>
                <a:sym typeface="Noto Sans KR"/>
              </a:rPr>
              <a:t>‘24 국가연구개발 우수성과 100선 선정</a:t>
            </a:r>
            <a:endParaRPr b="1" i="1" sz="1100" u="none" cap="none" strike="noStrike">
              <a:solidFill>
                <a:srgbClr val="2E75B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100" u="none" cap="none" strike="noStrike">
                <a:solidFill>
                  <a:srgbClr val="2E75B5"/>
                </a:solidFill>
                <a:latin typeface="Noto Sans KR"/>
                <a:ea typeface="Noto Sans KR"/>
                <a:cs typeface="Noto Sans KR"/>
                <a:sym typeface="Noto Sans KR"/>
              </a:rPr>
              <a:t>‘23 중소기업 R&amp;D 우수성과 대표기업</a:t>
            </a:r>
            <a:endParaRPr b="1" i="1" sz="1100" u="none" cap="none" strike="noStrike">
              <a:solidFill>
                <a:srgbClr val="2E75B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100" u="none" cap="none" strike="noStrike">
                <a:solidFill>
                  <a:srgbClr val="2E75B5"/>
                </a:solidFill>
                <a:latin typeface="Noto Sans KR"/>
                <a:ea typeface="Noto Sans KR"/>
                <a:cs typeface="Noto Sans KR"/>
                <a:sym typeface="Noto Sans KR"/>
              </a:rPr>
              <a:t>‘24 하반기 우수기업연구소 지정</a:t>
            </a:r>
            <a:endParaRPr b="1" i="1" sz="1100" u="none" cap="none" strike="noStrike">
              <a:solidFill>
                <a:srgbClr val="2E75B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-KR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’24 대한민국 Digital Innovation Award (과기부 장관상)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-KR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’24 중소기업 기술경영혁신상 (중기부 장관상)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-KR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’24 에너지신산업 유공표창, 한국에너지대상(산업부 장관상)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680115" y="3678205"/>
            <a:ext cx="5340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ISO 14001 환경경영인증</a:t>
            </a:r>
            <a:endParaRPr b="1" i="0" sz="1100" u="none" cap="none" strike="noStrike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포스코 유니콘후보기업, 경북도 유니콘후보기업, 산업부 에너지특화기업</a:t>
            </a:r>
            <a:endParaRPr b="1" i="0" sz="1100" u="none" cap="none" strike="noStrike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초격차 스타트업 1000+, ‘24 우수벤처기업, Hi-SEOUL기업</a:t>
            </a:r>
            <a:endParaRPr b="1" i="0" sz="1100" u="none" cap="none" strike="noStrike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우리은행 Rising Leaders 300, IBK 창공 24 </a:t>
            </a:r>
            <a:endParaRPr b="1" i="0" sz="1100" u="none" cap="none" strike="noStrike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-KR" sz="1800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주식회사 에이치에너지의 기술경쟁력</a:t>
            </a:r>
            <a:endParaRPr b="1" sz="1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709975" y="1372725"/>
            <a:ext cx="1623300" cy="255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신용 및 기술등급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39" name="Google Shape;239;p31"/>
          <p:cNvGraphicFramePr/>
          <p:nvPr/>
        </p:nvGraphicFramePr>
        <p:xfrm>
          <a:off x="709970" y="1714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290650"/>
                <a:gridCol w="971050"/>
                <a:gridCol w="1316800"/>
                <a:gridCol w="1578575"/>
              </a:tblGrid>
              <a:tr h="244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평가명</a:t>
                      </a:r>
                      <a:endParaRPr sz="13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등급</a:t>
                      </a:r>
                      <a:endParaRPr sz="13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인증기관</a:t>
                      </a:r>
                      <a:endParaRPr sz="13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유효기간</a:t>
                      </a:r>
                      <a:endParaRPr sz="13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신용평가등급확인서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BBB+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나이스평가정보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25.04.01~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기술평가등급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AA(우수)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에너지기술평가원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24.04.19~24.10.18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기술신용등급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T12(매우우수)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이크레더블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24.02.08~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기술사업평가등급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AA</a:t>
                      </a:r>
                      <a:endParaRPr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기술신용보증기금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23.09.07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31"/>
          <p:cNvSpPr/>
          <p:nvPr/>
        </p:nvSpPr>
        <p:spPr>
          <a:xfrm>
            <a:off x="6149288" y="1372725"/>
            <a:ext cx="1623300" cy="255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자격 및 지재권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41" name="Google Shape;241;p31"/>
          <p:cNvGraphicFramePr/>
          <p:nvPr/>
        </p:nvGraphicFramePr>
        <p:xfrm>
          <a:off x="6149307" y="1709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2493275"/>
                <a:gridCol w="2493275"/>
              </a:tblGrid>
              <a:tr h="24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자격</a:t>
                      </a:r>
                      <a:endParaRPr sz="13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지재권</a:t>
                      </a:r>
                      <a:endParaRPr sz="13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39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전기신사업등록증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(소규모전력중개사업)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특허등록 12개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전기신사업등록증</a:t>
                      </a:r>
                      <a:endParaRPr sz="11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(소규모태양광 전력거래 플랫폼 서비스)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특허출원 9개(해외 1개)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규제특례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(소규모태양광 전력거래 플랫폼 서비스)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상표권 13개(해외 1개)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31"/>
          <p:cNvSpPr/>
          <p:nvPr/>
        </p:nvSpPr>
        <p:spPr>
          <a:xfrm>
            <a:off x="709975" y="3316050"/>
            <a:ext cx="1623300" cy="255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대외인증 : 24건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149300" y="3316050"/>
            <a:ext cx="1623300" cy="255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공공수상 : 16건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1503" y="4808651"/>
            <a:ext cx="2162145" cy="15238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4150" y="4808650"/>
            <a:ext cx="1128050" cy="15238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972" y="4808660"/>
            <a:ext cx="1351025" cy="13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513225" y="6293750"/>
            <a:ext cx="174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포스코 유니콘후보기업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2416250" y="6332475"/>
            <a:ext cx="174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ISO 14001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4215925" y="6332475"/>
            <a:ext cx="174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산업부 에너지특화기업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32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32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1-4</a:t>
            </a: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유사사업 진행이력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최근 5년 간 총 1,016개소(127.40MW) 태양광발전소 사업 진행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60" name="Google Shape;260;p32"/>
          <p:cNvGraphicFramePr/>
          <p:nvPr/>
        </p:nvGraphicFramePr>
        <p:xfrm>
          <a:off x="-6497680" y="947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772550"/>
                <a:gridCol w="1826025"/>
                <a:gridCol w="2093575"/>
              </a:tblGrid>
              <a:tr h="244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sz="13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용량</a:t>
                      </a:r>
                      <a:endParaRPr sz="13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개소수</a:t>
                      </a:r>
                      <a:endParaRPr sz="13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30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100kW 미만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72.99</a:t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903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100kW 이상~500kW 미만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21.00</a:t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78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500kW 이상~ 1MW 미만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21.35</a:t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28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1MW 이상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11.80</a:t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합계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127.40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1016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1675" marB="11675" marR="11675" marL="116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32"/>
          <p:cNvSpPr/>
          <p:nvPr/>
        </p:nvSpPr>
        <p:spPr>
          <a:xfrm>
            <a:off x="733025" y="16434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733025" y="16434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아세아스틸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63" name="Google Shape;26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50" y="2115700"/>
            <a:ext cx="2067299" cy="146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sp>
        <p:nvSpPr>
          <p:cNvPr id="264" name="Google Shape;264;p32"/>
          <p:cNvSpPr txBox="1"/>
          <p:nvPr/>
        </p:nvSpPr>
        <p:spPr>
          <a:xfrm>
            <a:off x="2762590" y="22161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7.8MW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2024.12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733025" y="39671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733025" y="39671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태동테크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2762590" y="45398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1.3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4364587" y="16434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4364587" y="16434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세양정공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6394152" y="22161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1.8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2023.12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4364587" y="39671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4364587" y="39671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중앙후렌지 공업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6394152" y="45398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1.3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7996149" y="16434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7996149" y="16434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옥산 IMT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10025714" y="22161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1.4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2023.07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7996149" y="3967150"/>
            <a:ext cx="3504600" cy="22224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7996149" y="3967150"/>
            <a:ext cx="3504600" cy="339900"/>
          </a:xfrm>
          <a:prstGeom prst="round2SameRect">
            <a:avLst>
              <a:gd fmla="val 28147" name="adj1"/>
              <a:gd fmla="val 0" name="adj2"/>
            </a:avLst>
          </a:prstGeom>
          <a:solidFill>
            <a:srgbClr val="002060"/>
          </a:solidFill>
          <a:ln cap="flat" cmpd="sng" w="19050">
            <a:solidFill>
              <a:srgbClr val="222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달성코마텍</a:t>
            </a:r>
            <a:endParaRPr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10025714" y="4539875"/>
            <a:ext cx="16377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1.3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MW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 개시 연월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0" name="Google Shape;28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6975" y="2115700"/>
            <a:ext cx="2077324" cy="146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pic>
        <p:nvPicPr>
          <p:cNvPr id="281" name="Google Shape;28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8550" y="2115700"/>
            <a:ext cx="2077325" cy="146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pic>
        <p:nvPicPr>
          <p:cNvPr id="282" name="Google Shape;28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425" y="4439400"/>
            <a:ext cx="2077325" cy="146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pic>
        <p:nvPicPr>
          <p:cNvPr id="283" name="Google Shape;28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5000" y="4439400"/>
            <a:ext cx="2077325" cy="146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pic>
        <p:nvPicPr>
          <p:cNvPr id="284" name="Google Shape;284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575" y="4439400"/>
            <a:ext cx="2101299" cy="14201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sp>
        <p:nvSpPr>
          <p:cNvPr id="285" name="Google Shape;285;p32"/>
          <p:cNvSpPr/>
          <p:nvPr/>
        </p:nvSpPr>
        <p:spPr>
          <a:xfrm>
            <a:off x="733025" y="1372725"/>
            <a:ext cx="1623300" cy="255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사업 실적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, 스크린샷, 일렉트릭 블루, 패브릭이(가) 표시된 사진&#10;&#10;AI가 생성한 콘텐츠는 부정확할 수 있습니다." id="291" name="Google Shape;2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/>
        </p:nvSpPr>
        <p:spPr>
          <a:xfrm>
            <a:off x="567819" y="3059688"/>
            <a:ext cx="636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ko-KR" sz="3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2. 사업제안</a:t>
            </a:r>
            <a:endParaRPr i="0" sz="31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폰트, 그래픽, 그래픽 디자인, 텍스트이(가) 표시된 사진&#10;&#10;AI가 생성한 콘텐츠는 부정확할 수 있습니다." id="293" name="Google Shape;2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119" y="391740"/>
            <a:ext cx="1059944" cy="2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3"/>
          <p:cNvSpPr txBox="1"/>
          <p:nvPr>
            <p:ph idx="12" type="sldNum"/>
          </p:nvPr>
        </p:nvSpPr>
        <p:spPr>
          <a:xfrm>
            <a:off x="11480800" y="8475133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34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34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2-1</a:t>
            </a: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제안사업 개요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04" name="Google Shape;304;p34"/>
          <p:cNvGraphicFramePr/>
          <p:nvPr/>
        </p:nvGraphicFramePr>
        <p:xfrm>
          <a:off x="1000650" y="129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{C3144E48-DEBB-4059-A88A-F5663A487414}</a:tableStyleId>
              </a:tblPr>
              <a:tblGrid>
                <a:gridCol w="1704850"/>
                <a:gridCol w="8485850"/>
              </a:tblGrid>
              <a:tr h="41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b="1"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내용</a:t>
                      </a:r>
                      <a:endParaRPr b="1"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41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사업유형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솔라쉐어바로(직접 전력 공급)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계약형태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상호임대차계약: 에이치에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너지 </a:t>
                      </a:r>
                      <a:r>
                        <a:rPr lang="ko-KR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태양광 설비임대 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 (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주)무창 </a:t>
                      </a: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사업부지 무상임대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54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설비임대용량 및 위치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현장 상황에 따라 설치 가능 여부 및 용량이 변동될 수 있습니다.</a:t>
                      </a:r>
                      <a:endParaRPr sz="8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설비임대단가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140</a:t>
                      </a:r>
                      <a:r>
                        <a:rPr b="1" lang="ko-KR" sz="11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원/kWh 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(20년 고정</a:t>
                      </a:r>
                      <a:r>
                        <a:rPr lang="ko-KR" sz="11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    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 </a:t>
                      </a:r>
                      <a:endParaRPr sz="11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*태양광설비 발전량에 연동하여 kWh 단위로 임대료 산정</a:t>
                      </a:r>
                      <a:endParaRPr sz="11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*솔라쉐어바로(직접전력제공) : 자가소비로 인증 가능</a:t>
                      </a:r>
                      <a:endParaRPr sz="11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*REC, RE100 관련 수수료(재생에너지사용확인서 발급비용 등) 별도  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계약기간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20년</a:t>
                      </a:r>
                      <a:endParaRPr b="1" sz="11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34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태양광 제안사업 개요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06" name="Google Shape;306;p34"/>
          <p:cNvGraphicFramePr/>
          <p:nvPr/>
        </p:nvGraphicFramePr>
        <p:xfrm>
          <a:off x="2778600" y="266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451250"/>
                <a:gridCol w="2522075"/>
                <a:gridCol w="2219725"/>
                <a:gridCol w="2219725"/>
              </a:tblGrid>
              <a:tr h="493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주소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면적 기준 설치 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가능 </a:t>
                      </a: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용량(kW)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 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제안 용량(kW)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3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(주)무창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충남 아산시 선장면 서부남로 199-32 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5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35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35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2-2. 사업구성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371567" y="892033"/>
            <a:ext cx="2027700" cy="316800"/>
          </a:xfrm>
          <a:prstGeom prst="roundRect">
            <a:avLst>
              <a:gd fmla="val 16667" name="adj"/>
            </a:avLst>
          </a:prstGeom>
          <a:solidFill>
            <a:srgbClr val="D8E6FC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솔라쉐어바로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2399167" y="845233"/>
            <a:ext cx="938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비어있는 유휴부지(지붕, 주차장)을 활용하여 한전보다 저렴한 재생에너지 전기를 공급받아 사용하는 사업 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18" name="Google Shape;3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35" y="1651800"/>
            <a:ext cx="1001700" cy="10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/>
          <p:nvPr/>
        </p:nvSpPr>
        <p:spPr>
          <a:xfrm>
            <a:off x="402983" y="2622867"/>
            <a:ext cx="1125900" cy="294300"/>
          </a:xfrm>
          <a:prstGeom prst="roundRect">
            <a:avLst>
              <a:gd fmla="val 13688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ko-KR" sz="1200">
                <a:latin typeface="Noto Sans KR"/>
                <a:ea typeface="Noto Sans KR"/>
                <a:cs typeface="Noto Sans KR"/>
                <a:sym typeface="Noto Sans KR"/>
              </a:rPr>
              <a:t>전기사용자</a:t>
            </a:r>
            <a:endParaRPr b="1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20" name="Google Shape;3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856" y="1964840"/>
            <a:ext cx="1261778" cy="237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6799" y="1691896"/>
            <a:ext cx="681513" cy="6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5"/>
          <p:cNvSpPr/>
          <p:nvPr/>
        </p:nvSpPr>
        <p:spPr>
          <a:xfrm>
            <a:off x="2561400" y="2622867"/>
            <a:ext cx="1125900" cy="294300"/>
          </a:xfrm>
          <a:prstGeom prst="roundRect">
            <a:avLst>
              <a:gd fmla="val 13688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ko-KR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발전사업자</a:t>
            </a:r>
            <a:endParaRPr b="1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1583550" y="1566850"/>
            <a:ext cx="858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100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전력공급</a:t>
            </a:r>
            <a:endParaRPr b="1" i="0" sz="1100" u="none" cap="none" strike="noStrike">
              <a:solidFill>
                <a:srgbClr val="00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4" name="Google Shape;324;p35"/>
          <p:cNvSpPr/>
          <p:nvPr/>
        </p:nvSpPr>
        <p:spPr>
          <a:xfrm>
            <a:off x="1619567" y="1791333"/>
            <a:ext cx="786900" cy="102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127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25" name="Google Shape;325;p35"/>
          <p:cNvSpPr/>
          <p:nvPr/>
        </p:nvSpPr>
        <p:spPr>
          <a:xfrm>
            <a:off x="1619567" y="2309733"/>
            <a:ext cx="786900" cy="10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26" name="Google Shape;326;p35"/>
          <p:cNvSpPr txBox="1"/>
          <p:nvPr/>
        </p:nvSpPr>
        <p:spPr>
          <a:xfrm>
            <a:off x="1466833" y="2412533"/>
            <a:ext cx="1026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설비임대료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27" name="Google Shape;327;p35"/>
          <p:cNvGraphicFramePr/>
          <p:nvPr/>
        </p:nvGraphicFramePr>
        <p:xfrm>
          <a:off x="371553" y="325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709825"/>
                <a:gridCol w="4937075"/>
              </a:tblGrid>
              <a:tr h="331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정의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전기사용자의 유휴부지를 활용하여 </a:t>
                      </a: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한전보다 </a:t>
                      </a:r>
                      <a:r>
                        <a:rPr b="1" lang="ko-KR" sz="12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저렴한 </a:t>
                      </a: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재생에너지를 공급</a:t>
                      </a:r>
                      <a:endParaRPr b="1"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1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내용</a:t>
                      </a:r>
                      <a:r>
                        <a:rPr b="1" lang="ko-KR" sz="12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[계약기간] 20년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[전력구매단가] 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215900" lvl="0" marL="33020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KR"/>
                        <a:buChar char="●"/>
                      </a:pPr>
                      <a:r>
                        <a:rPr b="1" lang="ko-KR" sz="12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140원/kWh </a:t>
                      </a:r>
                      <a:endParaRPr b="1" sz="1200">
                        <a:solidFill>
                          <a:srgbClr val="0000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[사업구도] 운용리스사업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304800" lvl="0" marL="45720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REC 및 RE100 관련 수수료 등 별도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2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1) 초기투자비용, 유지관리비용 발생 X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2) 한전보다 저렴한 전기를 구매하여 전기료 절감</a:t>
                      </a:r>
                      <a:endParaRPr b="1"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3) 전기요금 변동 위험 상쇄 </a:t>
                      </a:r>
                      <a:b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</a:t>
                      </a: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(향후 전기료 인상이 되어도 영향을 받지 않고 안정적인 비용으로 전력 사용 가능)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28" name="Google Shape;328;p35"/>
          <p:cNvCxnSpPr/>
          <p:nvPr/>
        </p:nvCxnSpPr>
        <p:spPr>
          <a:xfrm>
            <a:off x="6266967" y="1531333"/>
            <a:ext cx="0" cy="5043300"/>
          </a:xfrm>
          <a:prstGeom prst="straightConnector1">
            <a:avLst/>
          </a:prstGeom>
          <a:noFill/>
          <a:ln cap="flat" cmpd="sng" w="25400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29" name="Google Shape;329;p35"/>
          <p:cNvGrpSpPr/>
          <p:nvPr/>
        </p:nvGrpSpPr>
        <p:grpSpPr>
          <a:xfrm>
            <a:off x="6841341" y="2004983"/>
            <a:ext cx="4201147" cy="2009721"/>
            <a:chOff x="5228363" y="1474455"/>
            <a:chExt cx="3397062" cy="1625067"/>
          </a:xfrm>
        </p:grpSpPr>
        <p:pic>
          <p:nvPicPr>
            <p:cNvPr id="330" name="Google Shape;330;p35" title="차트"/>
            <p:cNvPicPr preferRelativeResize="0"/>
            <p:nvPr/>
          </p:nvPicPr>
          <p:blipFill rotWithShape="1">
            <a:blip r:embed="rId6">
              <a:alphaModFix/>
            </a:blip>
            <a:srcRect b="0" l="8517" r="0" t="29229"/>
            <a:stretch/>
          </p:blipFill>
          <p:spPr>
            <a:xfrm>
              <a:off x="5228363" y="1474455"/>
              <a:ext cx="3397062" cy="1625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35"/>
            <p:cNvSpPr/>
            <p:nvPr/>
          </p:nvSpPr>
          <p:spPr>
            <a:xfrm>
              <a:off x="6091100" y="2842800"/>
              <a:ext cx="82800" cy="30300"/>
            </a:xfrm>
            <a:prstGeom prst="roundRect">
              <a:avLst>
                <a:gd fmla="val 16667" name="adj"/>
              </a:avLst>
            </a:prstGeom>
            <a:solidFill>
              <a:srgbClr val="EAD1DC"/>
            </a:solidFill>
            <a:ln cap="flat" cmpd="sng" w="117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6219350" y="2758875"/>
              <a:ext cx="82800" cy="1143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6358100" y="2573550"/>
              <a:ext cx="82800" cy="2997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6492150" y="2346225"/>
              <a:ext cx="82800" cy="5271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6626200" y="2122050"/>
              <a:ext cx="82800" cy="7512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6760250" y="1978650"/>
              <a:ext cx="82800" cy="8943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6894300" y="1809400"/>
              <a:ext cx="82800" cy="1063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7028350" y="1786125"/>
              <a:ext cx="82800" cy="10869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7162400" y="1820350"/>
              <a:ext cx="82800" cy="10527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301150" y="1903425"/>
              <a:ext cx="82800" cy="9696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430500" y="2055150"/>
              <a:ext cx="82800" cy="8181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7569250" y="2227725"/>
              <a:ext cx="82800" cy="6453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7708000" y="2474500"/>
              <a:ext cx="82800" cy="3984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7839700" y="2701425"/>
              <a:ext cx="82800" cy="1719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7971400" y="2842725"/>
              <a:ext cx="82800" cy="303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sp>
        <p:nvSpPr>
          <p:cNvPr id="346" name="Google Shape;346;p35"/>
          <p:cNvSpPr txBox="1"/>
          <p:nvPr/>
        </p:nvSpPr>
        <p:spPr>
          <a:xfrm>
            <a:off x="6464831" y="1590433"/>
            <a:ext cx="17388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전기요금 저감 효과</a:t>
            </a:r>
            <a:endParaRPr b="1" i="0" sz="1300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7" name="Google Shape;347;p35"/>
          <p:cNvSpPr/>
          <p:nvPr/>
        </p:nvSpPr>
        <p:spPr>
          <a:xfrm rot="10800000">
            <a:off x="6844300" y="4183633"/>
            <a:ext cx="4095600" cy="1490400"/>
          </a:xfrm>
          <a:prstGeom prst="wedgeRectCallout">
            <a:avLst>
              <a:gd fmla="val -17859" name="adj1"/>
              <a:gd fmla="val 61792" name="adj2"/>
            </a:avLst>
          </a:prstGeom>
          <a:solidFill>
            <a:srgbClr val="EFEFE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48" name="Google Shape;348;p35"/>
          <p:cNvSpPr txBox="1"/>
          <p:nvPr/>
        </p:nvSpPr>
        <p:spPr>
          <a:xfrm>
            <a:off x="6899100" y="4183500"/>
            <a:ext cx="39861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전력량요금 저감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전기요금이 비싼 중간/최대부하 시간대 태양광 발전량으로 한전 전력을 대체하여 전력량 요금 감소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기타요금 저감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전력량요금과 연동되어 있는 “기후환경요금”, “연료비조정요금”, “전력산업기반기금” 감소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6841167" y="5741467"/>
            <a:ext cx="46683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ex. 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산업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용(을) 고압A 선택2 기준, </a:t>
            </a:r>
            <a:r>
              <a:rPr b="1" lang="ko-KR" sz="1200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174.8</a:t>
            </a:r>
            <a:r>
              <a:rPr b="1" lang="ko-KR" sz="1200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원/kWh</a:t>
            </a: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절감단가 산정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[전력량요금 : 160원/kWh / 기후환경요금 : 9원/kWh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연료비조정요금 : 5원/kWh]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50" name="Google Shape;350;p35"/>
          <p:cNvGrpSpPr/>
          <p:nvPr/>
        </p:nvGrpSpPr>
        <p:grpSpPr>
          <a:xfrm>
            <a:off x="9014742" y="1907391"/>
            <a:ext cx="1950818" cy="143996"/>
            <a:chOff x="6761225" y="1278175"/>
            <a:chExt cx="1463150" cy="108000"/>
          </a:xfrm>
        </p:grpSpPr>
        <p:sp>
          <p:nvSpPr>
            <p:cNvPr id="351" name="Google Shape;351;p35"/>
            <p:cNvSpPr txBox="1"/>
            <p:nvPr/>
          </p:nvSpPr>
          <p:spPr>
            <a:xfrm>
              <a:off x="7756075" y="1278175"/>
              <a:ext cx="4683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-KR" sz="8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최대부하</a:t>
              </a:r>
              <a:endPara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7702625" y="1293636"/>
              <a:ext cx="75000" cy="771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7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53" name="Google Shape;353;p35"/>
            <p:cNvSpPr txBox="1"/>
            <p:nvPr/>
          </p:nvSpPr>
          <p:spPr>
            <a:xfrm>
              <a:off x="7271875" y="1278175"/>
              <a:ext cx="4683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-KR" sz="8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중간부하</a:t>
              </a:r>
              <a:endPara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7218425" y="1293636"/>
              <a:ext cx="75000" cy="771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11775">
              <a:solidFill>
                <a:srgbClr val="D5A6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55" name="Google Shape;355;p35"/>
            <p:cNvSpPr txBox="1"/>
            <p:nvPr/>
          </p:nvSpPr>
          <p:spPr>
            <a:xfrm>
              <a:off x="6814675" y="1278175"/>
              <a:ext cx="4683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-KR" sz="8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경부하</a:t>
              </a:r>
              <a:endPara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6761225" y="1293636"/>
              <a:ext cx="75000" cy="77100"/>
            </a:xfrm>
            <a:prstGeom prst="roundRect">
              <a:avLst>
                <a:gd fmla="val 16667" name="adj"/>
              </a:avLst>
            </a:prstGeom>
            <a:solidFill>
              <a:srgbClr val="EAD1DC"/>
            </a:solidFill>
            <a:ln cap="flat" cmpd="sng" w="117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075" lIns="113075" spcFirstLastPara="1" rIns="113075" wrap="square" tIns="113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sp>
        <p:nvSpPr>
          <p:cNvPr id="357" name="Google Shape;357;p35"/>
          <p:cNvSpPr txBox="1"/>
          <p:nvPr/>
        </p:nvSpPr>
        <p:spPr>
          <a:xfrm>
            <a:off x="8390567" y="1907433"/>
            <a:ext cx="6243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발전량 : 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58" name="Google Shape;358;p35"/>
          <p:cNvGrpSpPr/>
          <p:nvPr/>
        </p:nvGrpSpPr>
        <p:grpSpPr>
          <a:xfrm>
            <a:off x="9795790" y="1691991"/>
            <a:ext cx="1309167" cy="143996"/>
            <a:chOff x="6292925" y="1277925"/>
            <a:chExt cx="981900" cy="108000"/>
          </a:xfrm>
        </p:grpSpPr>
        <p:sp>
          <p:nvSpPr>
            <p:cNvPr id="359" name="Google Shape;359;p35"/>
            <p:cNvSpPr txBox="1"/>
            <p:nvPr/>
          </p:nvSpPr>
          <p:spPr>
            <a:xfrm>
              <a:off x="6292925" y="1277925"/>
              <a:ext cx="9819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-KR" sz="8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전력사용량 : </a:t>
              </a:r>
              <a:endPara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60" name="Google Shape;360;p35"/>
            <p:cNvCxnSpPr/>
            <p:nvPr/>
          </p:nvCxnSpPr>
          <p:spPr>
            <a:xfrm flipH="1" rot="10800000">
              <a:off x="6845800" y="1332375"/>
              <a:ext cx="215700" cy="6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35"/>
          <p:cNvSpPr/>
          <p:nvPr/>
        </p:nvSpPr>
        <p:spPr>
          <a:xfrm>
            <a:off x="3632683" y="2032067"/>
            <a:ext cx="786900" cy="102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127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62" name="Google Shape;362;p35"/>
          <p:cNvSpPr txBox="1"/>
          <p:nvPr/>
        </p:nvSpPr>
        <p:spPr>
          <a:xfrm>
            <a:off x="3632683" y="1795050"/>
            <a:ext cx="858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100">
                <a:solidFill>
                  <a:srgbClr val="980000"/>
                </a:solidFill>
                <a:latin typeface="Noto Sans KR"/>
                <a:ea typeface="Noto Sans KR"/>
                <a:cs typeface="Noto Sans KR"/>
                <a:sym typeface="Noto Sans KR"/>
              </a:rPr>
              <a:t>유지관리</a:t>
            </a:r>
            <a:endParaRPr b="1" i="0" sz="1100" u="none" cap="none" strike="noStrike">
              <a:solidFill>
                <a:srgbClr val="98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/>
          <p:nvPr/>
        </p:nvSpPr>
        <p:spPr>
          <a:xfrm>
            <a:off x="5006238" y="1429100"/>
            <a:ext cx="17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재생E 거래대금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발전전력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69" name="Google Shape;3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36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36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2-2. 사업구성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1006032" y="1746369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856" y="1829300"/>
            <a:ext cx="498344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6"/>
          <p:cNvSpPr/>
          <p:nvPr/>
        </p:nvSpPr>
        <p:spPr>
          <a:xfrm>
            <a:off x="1034932" y="3026094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750" y="3153325"/>
            <a:ext cx="414250" cy="4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6"/>
          <p:cNvSpPr/>
          <p:nvPr/>
        </p:nvSpPr>
        <p:spPr>
          <a:xfrm>
            <a:off x="3841213" y="1441600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발전사업자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3976157" y="1746369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9817732" y="1728382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6"/>
          <p:cNvSpPr/>
          <p:nvPr/>
        </p:nvSpPr>
        <p:spPr>
          <a:xfrm>
            <a:off x="6989837" y="1746369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36"/>
          <p:cNvCxnSpPr/>
          <p:nvPr/>
        </p:nvCxnSpPr>
        <p:spPr>
          <a:xfrm>
            <a:off x="5101825" y="1979500"/>
            <a:ext cx="1522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2" name="Google Shape;382;p36"/>
          <p:cNvCxnSpPr/>
          <p:nvPr/>
        </p:nvCxnSpPr>
        <p:spPr>
          <a:xfrm>
            <a:off x="5125863" y="2173650"/>
            <a:ext cx="1522800" cy="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3" name="Google Shape;383;p36"/>
          <p:cNvSpPr/>
          <p:nvPr/>
        </p:nvSpPr>
        <p:spPr>
          <a:xfrm>
            <a:off x="873663" y="1441600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EPC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873663" y="2722100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O&amp;M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9656463" y="1423613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운영대행자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6847792" y="1441600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수요기업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885" y="1816248"/>
            <a:ext cx="486812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16519" y="1801150"/>
            <a:ext cx="486825" cy="4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9475" y="1821075"/>
            <a:ext cx="524700" cy="5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1972400" y="1650700"/>
            <a:ext cx="1766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책임준공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91" name="Google Shape;391;p36"/>
          <p:cNvCxnSpPr/>
          <p:nvPr/>
        </p:nvCxnSpPr>
        <p:spPr>
          <a:xfrm>
            <a:off x="2066725" y="2075600"/>
            <a:ext cx="1522800" cy="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2" name="Google Shape;392;p36"/>
          <p:cNvCxnSpPr/>
          <p:nvPr/>
        </p:nvCxnSpPr>
        <p:spPr>
          <a:xfrm flipH="1" rot="10800000">
            <a:off x="1972400" y="2287275"/>
            <a:ext cx="1603800" cy="1062300"/>
          </a:xfrm>
          <a:prstGeom prst="bentConnector3">
            <a:avLst>
              <a:gd fmla="val 72668" name="adj1"/>
            </a:avLst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3" name="Google Shape;393;p36"/>
          <p:cNvSpPr txBox="1"/>
          <p:nvPr/>
        </p:nvSpPr>
        <p:spPr>
          <a:xfrm>
            <a:off x="1680125" y="2931200"/>
            <a:ext cx="1766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유지보수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94" name="Google Shape;394;p36"/>
          <p:cNvGraphicFramePr/>
          <p:nvPr/>
        </p:nvGraphicFramePr>
        <p:xfrm>
          <a:off x="801400" y="440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2153975"/>
                <a:gridCol w="6635425"/>
                <a:gridCol w="1799800"/>
              </a:tblGrid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주체</a:t>
                      </a:r>
                      <a:endParaRPr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 및 기능</a:t>
                      </a:r>
                      <a:endParaRPr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EPC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 발전설비 설치 공사 및 인허가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발전사업자 지정 업체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O&amp;M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발전설비 정기점검 및 예방정비, 정기 운영보고서 제공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H에너지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발전사업자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발전전력 판매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SPC(H에너지 투자)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운영대행자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발전사업자와 수요기업간 상호 임대차 계약 체결 정산/운영 대행</a:t>
                      </a:r>
                      <a:r>
                        <a:rPr lang="ko-KR" sz="11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(별도 협의 필요)</a:t>
                      </a:r>
                      <a:endParaRPr sz="11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H에너지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수요기업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부지제공(옥상/유휴부지 등) 및 발전 전력 사용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전기사용자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36"/>
          <p:cNvSpPr/>
          <p:nvPr/>
        </p:nvSpPr>
        <p:spPr>
          <a:xfrm>
            <a:off x="3923924" y="3446969"/>
            <a:ext cx="674100" cy="674100"/>
          </a:xfrm>
          <a:prstGeom prst="ellipse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3781880" y="3142200"/>
            <a:ext cx="996600" cy="209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에너지공단</a:t>
            </a:r>
            <a:endParaRPr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97" name="Google Shape;397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98633" y="3544053"/>
            <a:ext cx="524700" cy="479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6"/>
          <p:cNvCxnSpPr/>
          <p:nvPr/>
        </p:nvCxnSpPr>
        <p:spPr>
          <a:xfrm flipH="1">
            <a:off x="4851280" y="2787800"/>
            <a:ext cx="2369400" cy="896100"/>
          </a:xfrm>
          <a:prstGeom prst="bentConnector3">
            <a:avLst>
              <a:gd fmla="val -441" name="adj1"/>
            </a:avLst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9" name="Google Shape;399;p36"/>
          <p:cNvCxnSpPr/>
          <p:nvPr/>
        </p:nvCxnSpPr>
        <p:spPr>
          <a:xfrm flipH="1">
            <a:off x="4848555" y="2815675"/>
            <a:ext cx="2526000" cy="1026600"/>
          </a:xfrm>
          <a:prstGeom prst="bentConnector3">
            <a:avLst>
              <a:gd fmla="val -368" name="adj1"/>
            </a:avLst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0" name="Google Shape;400;p36"/>
          <p:cNvSpPr txBox="1"/>
          <p:nvPr/>
        </p:nvSpPr>
        <p:spPr>
          <a:xfrm>
            <a:off x="5195013" y="3109731"/>
            <a:ext cx="17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재생E 사용확인서 발급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재생E 사용실적 제출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솔라쉐어바로 사업 구조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4778480" y="2609325"/>
            <a:ext cx="2802300" cy="1581600"/>
          </a:xfrm>
          <a:prstGeom prst="rect">
            <a:avLst/>
          </a:prstGeom>
          <a:noFill/>
          <a:ln cap="flat" cmpd="sng" w="9525">
            <a:solidFill>
              <a:srgbClr val="20124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3" name="Google Shape;403;p36"/>
          <p:cNvCxnSpPr>
            <a:stCxn id="379" idx="3"/>
            <a:endCxn id="402" idx="3"/>
          </p:cNvCxnSpPr>
          <p:nvPr/>
        </p:nvCxnSpPr>
        <p:spPr>
          <a:xfrm flipH="1">
            <a:off x="7580652" y="2303762"/>
            <a:ext cx="2335800" cy="10965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04" name="Google Shape;404;p36"/>
          <p:cNvSpPr txBox="1"/>
          <p:nvPr/>
        </p:nvSpPr>
        <p:spPr>
          <a:xfrm>
            <a:off x="8635575" y="2815687"/>
            <a:ext cx="11562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재생E 사용확인서 발급 대행 가능</a:t>
            </a:r>
            <a:endParaRPr b="1"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(비용 별도) </a:t>
            </a:r>
            <a:endParaRPr b="1"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05" name="Google Shape;405;p36"/>
          <p:cNvCxnSpPr/>
          <p:nvPr/>
        </p:nvCxnSpPr>
        <p:spPr>
          <a:xfrm>
            <a:off x="10284070" y="1181950"/>
            <a:ext cx="369000" cy="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6"/>
          <p:cNvSpPr txBox="1"/>
          <p:nvPr/>
        </p:nvSpPr>
        <p:spPr>
          <a:xfrm>
            <a:off x="10421653" y="990013"/>
            <a:ext cx="11562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대금 흐름 </a:t>
            </a:r>
            <a:endParaRPr sz="1000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7" name="Google Shape;407;p36"/>
          <p:cNvSpPr txBox="1"/>
          <p:nvPr/>
        </p:nvSpPr>
        <p:spPr>
          <a:xfrm>
            <a:off x="7857463" y="1415451"/>
            <a:ext cx="17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대행 수수료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대행</a:t>
            </a:r>
            <a:endParaRPr sz="1000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08" name="Google Shape;408;p36"/>
          <p:cNvCxnSpPr/>
          <p:nvPr/>
        </p:nvCxnSpPr>
        <p:spPr>
          <a:xfrm>
            <a:off x="7953050" y="1965851"/>
            <a:ext cx="1522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36"/>
          <p:cNvCxnSpPr/>
          <p:nvPr/>
        </p:nvCxnSpPr>
        <p:spPr>
          <a:xfrm>
            <a:off x="7977088" y="2160001"/>
            <a:ext cx="1522800" cy="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37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37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솔라쉐어바로 vs 솔라쉐어2.0 상품 비교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37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2-2. 사업구성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20" name="Google Shape;420;p37"/>
          <p:cNvGraphicFramePr/>
          <p:nvPr/>
        </p:nvGraphicFramePr>
        <p:xfrm>
          <a:off x="929838" y="1372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2121000"/>
                <a:gridCol w="4059750"/>
                <a:gridCol w="4059750"/>
              </a:tblGrid>
              <a:tr h="32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 2.0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87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대상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 발전량보다 전력소비가 큰 사업장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예상 설치용량은 크나 전력소비가 적거나 주말 부하량이 적어, 자가소비로 사용할 수 없는 기업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 설치용량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전력소비량에 맞는 최적의 설치용량 분석 필요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</a:t>
                      </a: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파워플래너 데이터 필요)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옥상면적에 따라 상이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(한전 선로용량여유가 있어야 함)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59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PPA </a:t>
                      </a: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적용단가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140</a:t>
                      </a:r>
                      <a:r>
                        <a:rPr b="1" lang="ko-KR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원/kWh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임대 종료 후 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Off-site </a:t>
                      </a: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PPA 전환 시점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 </a:t>
                      </a: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단가 적용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부지 임대료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없음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40,000원/kW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76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계약기간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20년(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고정)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5/10/20년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ko-KR" sz="10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(이후 </a:t>
                      </a:r>
                      <a:r>
                        <a:rPr lang="ko-KR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Off-site PPA</a:t>
                      </a:r>
                      <a:r>
                        <a:rPr lang="ko-KR" sz="10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전환가능, </a:t>
                      </a:r>
                      <a:r>
                        <a:rPr lang="ko-KR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PPA 전환 시 부지임대료 X</a:t>
                      </a:r>
                      <a:r>
                        <a:rPr lang="ko-KR" sz="10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8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38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38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2-3. 설치가능용량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538719" y="1017268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태양광 설비 설치용량_352.95kW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538725" y="1692439"/>
            <a:ext cx="6798000" cy="474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28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32" name="Google Shape;432;p38"/>
          <p:cNvGraphicFramePr/>
          <p:nvPr/>
        </p:nvGraphicFramePr>
        <p:xfrm>
          <a:off x="7708229" y="475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3838575"/>
              </a:tblGrid>
              <a:tr h="322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2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1376425"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KR"/>
                        <a:buChar char="●"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위성사진 기반으로 한 배치로, 실제 설계 시 변동될 수 있습니다.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※ 실제 현장 여건에 따라 설치 가능 용량과는 일부 차이가 발생할 수 있습니다. 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3" name="Google Shape;433;p38"/>
          <p:cNvGraphicFramePr/>
          <p:nvPr/>
        </p:nvGraphicFramePr>
        <p:xfrm>
          <a:off x="7708213" y="162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175800"/>
                <a:gridCol w="2662800"/>
              </a:tblGrid>
              <a:tr h="26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b="1"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내용</a:t>
                      </a:r>
                      <a:endParaRPr b="1"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주소 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충남 아산시 선장면 서부남로 199-32 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모듈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론지 650Wp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수량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543EA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용량 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r>
                        <a:rPr b="1"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kWp</a:t>
                      </a:r>
                      <a:endParaRPr b="1"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38"/>
          <p:cNvSpPr/>
          <p:nvPr/>
        </p:nvSpPr>
        <p:spPr>
          <a:xfrm>
            <a:off x="6252925" y="1803525"/>
            <a:ext cx="731700" cy="9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9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39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9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2-4. 경제성분석_전기요금 변화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8054375" y="5836625"/>
            <a:ext cx="3592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전기요금 단가 상승률 </a:t>
            </a:r>
            <a:r>
              <a:rPr b="1" lang="ko-KR" sz="1500" u="sng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4%</a:t>
            </a:r>
            <a:r>
              <a:rPr lang="ko-KR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로 분석함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45" name="Google Shape;44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300" y="1030717"/>
            <a:ext cx="78967" cy="78967"/>
          </a:xfrm>
          <a:prstGeom prst="rect">
            <a:avLst/>
          </a:prstGeom>
          <a:noFill/>
          <a:ln>
            <a:noFill/>
          </a:ln>
          <a:effectLst>
            <a:outerShdw blurRad="579" dir="2700000" dist="12504">
              <a:srgbClr val="000000">
                <a:alpha val="14120"/>
              </a:srgbClr>
            </a:outerShdw>
          </a:effectLst>
        </p:spPr>
      </p:pic>
      <p:graphicFrame>
        <p:nvGraphicFramePr>
          <p:cNvPr id="446" name="Google Shape;446;p39"/>
          <p:cNvGraphicFramePr/>
          <p:nvPr/>
        </p:nvGraphicFramePr>
        <p:xfrm>
          <a:off x="8054367" y="17019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{C3144E48-DEBB-4059-A88A-F5663A487414}</a:tableStyleId>
              </a:tblPr>
              <a:tblGrid>
                <a:gridCol w="1180025"/>
                <a:gridCol w="1180025"/>
                <a:gridCol w="1180025"/>
              </a:tblGrid>
              <a:tr h="412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연도</a:t>
                      </a:r>
                      <a:endParaRPr b="1"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인상 횟수</a:t>
                      </a:r>
                      <a:endParaRPr b="1"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인상 요금</a:t>
                      </a:r>
                      <a:endParaRPr b="1"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50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2022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▲ 19.93원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2023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▲ 30.63원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▲ 16.9원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2025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47" name="Google Shape;447;p39"/>
          <p:cNvGrpSpPr/>
          <p:nvPr/>
        </p:nvGrpSpPr>
        <p:grpSpPr>
          <a:xfrm>
            <a:off x="597488" y="1701911"/>
            <a:ext cx="7159021" cy="4478288"/>
            <a:chOff x="373950" y="1164175"/>
            <a:chExt cx="5369400" cy="3358800"/>
          </a:xfrm>
        </p:grpSpPr>
        <p:sp>
          <p:nvSpPr>
            <p:cNvPr id="448" name="Google Shape;448;p39"/>
            <p:cNvSpPr/>
            <p:nvPr/>
          </p:nvSpPr>
          <p:spPr>
            <a:xfrm>
              <a:off x="373950" y="1164175"/>
              <a:ext cx="5369400" cy="33588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grpSp>
          <p:nvGrpSpPr>
            <p:cNvPr id="449" name="Google Shape;449;p39"/>
            <p:cNvGrpSpPr/>
            <p:nvPr/>
          </p:nvGrpSpPr>
          <p:grpSpPr>
            <a:xfrm>
              <a:off x="484191" y="1442042"/>
              <a:ext cx="5111023" cy="3080834"/>
              <a:chOff x="529613" y="1505885"/>
              <a:chExt cx="4982475" cy="3080834"/>
            </a:xfrm>
          </p:grpSpPr>
          <p:pic>
            <p:nvPicPr>
              <p:cNvPr id="450" name="Google Shape;450;p39" title="차트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29613" y="1505885"/>
                <a:ext cx="4982475" cy="30808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39"/>
              <p:cNvSpPr/>
              <p:nvPr/>
            </p:nvSpPr>
            <p:spPr>
              <a:xfrm>
                <a:off x="607181" y="1678331"/>
                <a:ext cx="12870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>
                    <a:latin typeface="Noto Sans KR"/>
                    <a:ea typeface="Noto Sans KR"/>
                    <a:cs typeface="Noto Sans KR"/>
                    <a:sym typeface="Noto Sans KR"/>
                  </a:rPr>
                  <a:t>(단위 : 원/kWh)</a:t>
                </a:r>
                <a:endParaRPr i="0" sz="9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2" name="Google Shape;452;p39"/>
              <p:cNvSpPr/>
              <p:nvPr/>
            </p:nvSpPr>
            <p:spPr>
              <a:xfrm>
                <a:off x="2245856" y="2661638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+4.9</a:t>
                </a:r>
                <a:endParaRPr b="1" i="0" sz="11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3" name="Google Shape;453;p39"/>
              <p:cNvSpPr/>
              <p:nvPr/>
            </p:nvSpPr>
            <p:spPr>
              <a:xfrm>
                <a:off x="2685413" y="2515519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+15</a:t>
                </a:r>
                <a:endParaRPr b="1" i="0" sz="11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4" name="Google Shape;454;p39"/>
              <p:cNvSpPr/>
              <p:nvPr/>
            </p:nvSpPr>
            <p:spPr>
              <a:xfrm>
                <a:off x="2980425" y="2398369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+11.4</a:t>
                </a:r>
                <a:endParaRPr b="1" i="0" sz="11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5" name="Google Shape;455;p39"/>
              <p:cNvSpPr/>
              <p:nvPr/>
            </p:nvSpPr>
            <p:spPr>
              <a:xfrm>
                <a:off x="3249338" y="2330794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+8</a:t>
                </a:r>
                <a:endParaRPr b="1" i="0" sz="11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6" name="Google Shape;456;p39"/>
              <p:cNvSpPr/>
              <p:nvPr/>
            </p:nvSpPr>
            <p:spPr>
              <a:xfrm>
                <a:off x="3516881" y="2213644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+11.2</a:t>
                </a:r>
                <a:endParaRPr b="1" sz="1100"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7" name="Google Shape;457;p39"/>
              <p:cNvSpPr/>
              <p:nvPr/>
            </p:nvSpPr>
            <p:spPr>
              <a:xfrm>
                <a:off x="4491956" y="2080931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+16.9</a:t>
                </a:r>
                <a:endParaRPr b="1" sz="1100"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8" name="Google Shape;458;p39"/>
              <p:cNvSpPr/>
              <p:nvPr/>
            </p:nvSpPr>
            <p:spPr>
              <a:xfrm>
                <a:off x="1980375" y="2953941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solidFill>
                      <a:srgbClr val="0000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-5.0</a:t>
                </a:r>
                <a:endParaRPr b="1" i="0" sz="1100" u="none" cap="none" strike="noStrike">
                  <a:solidFill>
                    <a:srgbClr val="0000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59" name="Google Shape;459;p39"/>
              <p:cNvSpPr/>
              <p:nvPr/>
            </p:nvSpPr>
            <p:spPr>
              <a:xfrm>
                <a:off x="1232194" y="2656903"/>
                <a:ext cx="331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+2.6</a:t>
                </a:r>
                <a:endParaRPr b="1" i="0" sz="11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60" name="Google Shape;460;p39"/>
              <p:cNvSpPr/>
              <p:nvPr/>
            </p:nvSpPr>
            <p:spPr>
              <a:xfrm>
                <a:off x="1129238" y="3383184"/>
                <a:ext cx="4226100" cy="330300"/>
              </a:xfrm>
              <a:prstGeom prst="rightArrow">
                <a:avLst>
                  <a:gd fmla="val 50000" name="adj1"/>
                  <a:gd fmla="val 32539" name="adj2"/>
                </a:avLst>
              </a:prstGeom>
              <a:solidFill>
                <a:srgbClr val="D9D9D9"/>
              </a:solidFill>
              <a:ln>
                <a:noFill/>
              </a:ln>
              <a:effectLst>
                <a:outerShdw blurRad="76200" rotWithShape="0" algn="bl" dir="5400000" dist="254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100">
                    <a:latin typeface="Noto Sans KR"/>
                    <a:ea typeface="Noto Sans KR"/>
                    <a:cs typeface="Noto Sans KR"/>
                    <a:sym typeface="Noto Sans KR"/>
                  </a:rPr>
                  <a:t>2013~2025년 : CAGR </a:t>
                </a:r>
                <a:r>
                  <a:rPr b="1" lang="ko-KR" sz="1100">
                    <a:solidFill>
                      <a:srgbClr val="0000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4% 상승</a:t>
                </a:r>
                <a:endParaRPr b="1" sz="1100">
                  <a:solidFill>
                    <a:srgbClr val="0000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61" name="Google Shape;461;p39"/>
              <p:cNvSpPr/>
              <p:nvPr/>
            </p:nvSpPr>
            <p:spPr>
              <a:xfrm>
                <a:off x="2245856" y="3059967"/>
                <a:ext cx="3109200" cy="330300"/>
              </a:xfrm>
              <a:prstGeom prst="rightArrow">
                <a:avLst>
                  <a:gd fmla="val 50000" name="adj1"/>
                  <a:gd fmla="val 33844" name="adj2"/>
                </a:avLst>
              </a:prstGeom>
              <a:solidFill>
                <a:srgbClr val="D9D9D9"/>
              </a:solidFill>
              <a:ln>
                <a:noFill/>
              </a:ln>
              <a:effectLst>
                <a:outerShdw blurRad="76200" rotWithShape="0" algn="bl" dir="5400000" dist="2540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ko-KR" sz="11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2021~2025년 : CAGR </a:t>
                </a:r>
                <a:r>
                  <a:rPr b="1" lang="ko-KR" sz="1100">
                    <a:solidFill>
                      <a:srgbClr val="0000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14% 상승</a:t>
                </a:r>
                <a:endParaRPr b="1" sz="1100">
                  <a:solidFill>
                    <a:srgbClr val="0000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462" name="Google Shape;462;p39"/>
            <p:cNvSpPr/>
            <p:nvPr/>
          </p:nvSpPr>
          <p:spPr>
            <a:xfrm>
              <a:off x="1658050" y="1319400"/>
              <a:ext cx="2822100" cy="5172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1728563" y="1304132"/>
              <a:ext cx="2622300" cy="2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500">
                  <a:latin typeface="Noto Sans KR"/>
                  <a:ea typeface="Noto Sans KR"/>
                  <a:cs typeface="Noto Sans KR"/>
                  <a:sym typeface="Noto Sans KR"/>
                </a:rPr>
                <a:t>[산업용(을) 전기요금 단가 인상 추이]</a:t>
              </a:r>
              <a:endParaRPr b="1" sz="1500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aphicFrame>
        <p:nvGraphicFramePr>
          <p:cNvPr id="464" name="Google Shape;464;p39"/>
          <p:cNvGraphicFramePr/>
          <p:nvPr/>
        </p:nvGraphicFramePr>
        <p:xfrm>
          <a:off x="8054342" y="4240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{C3144E48-DEBB-4059-A88A-F5663A487414}</a:tableStyleId>
              </a:tblPr>
              <a:tblGrid>
                <a:gridCol w="2080500"/>
                <a:gridCol w="1459625"/>
              </a:tblGrid>
              <a:tr h="4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 간</a:t>
                      </a:r>
                      <a:endParaRPr b="1" sz="13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76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CAGR</a:t>
                      </a:r>
                      <a:endParaRPr b="1" sz="13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76CA"/>
                    </a:solidFill>
                  </a:tcPr>
                </a:tc>
              </a:tr>
              <a:tr h="4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2021 ~ 2025 (4년)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14% </a:t>
                      </a: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상승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2013 ~ 2025 (12년)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4%</a:t>
                      </a:r>
                      <a:r>
                        <a:rPr lang="ko-KR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상승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39"/>
          <p:cNvSpPr txBox="1"/>
          <p:nvPr/>
        </p:nvSpPr>
        <p:spPr>
          <a:xfrm>
            <a:off x="1093491" y="885583"/>
            <a:ext cx="1030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전력요금 상승 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6" name="Google Shape;466;p39"/>
          <p:cNvSpPr txBox="1"/>
          <p:nvPr/>
        </p:nvSpPr>
        <p:spPr>
          <a:xfrm>
            <a:off x="961267" y="1172950"/>
            <a:ext cx="1029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3873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KR"/>
              <a:buChar char="-"/>
            </a:pPr>
            <a:r>
              <a:rPr lang="ko-KR" sz="1300">
                <a:latin typeface="Noto Sans KR"/>
                <a:ea typeface="Noto Sans KR"/>
                <a:cs typeface="Noto Sans KR"/>
                <a:sym typeface="Noto Sans KR"/>
              </a:rPr>
              <a:t>최근 3년간 산업용 전기요금이 67.85% 상승했으며, 향후에도 지속적인 인상이 예상됨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0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40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40"/>
          <p:cNvSpPr txBox="1"/>
          <p:nvPr/>
        </p:nvSpPr>
        <p:spPr>
          <a:xfrm>
            <a:off x="448236" y="149994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2-4. 경제성분석_전력 소비패턴 분석 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40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/>
              <a:t>전력 소비패턴 분석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7" name="Google Shape;477;p40"/>
          <p:cNvGraphicFramePr/>
          <p:nvPr/>
        </p:nvGraphicFramePr>
        <p:xfrm>
          <a:off x="538729" y="1220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2693550"/>
                <a:gridCol w="2404225"/>
                <a:gridCol w="2757325"/>
                <a:gridCol w="3132100"/>
              </a:tblGrid>
              <a:tr h="31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면적기준 설치가능용량</a:t>
                      </a:r>
                      <a:r>
                        <a:rPr lang="ko-KR" sz="11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[kW]</a:t>
                      </a:r>
                      <a:endParaRPr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상계처리 제안 용량</a:t>
                      </a:r>
                      <a:endParaRPr sz="12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2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 전기요금 평균단가</a:t>
                      </a:r>
                      <a:r>
                        <a:rPr lang="ko-KR" sz="11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[원/kWh]</a:t>
                      </a:r>
                      <a:endParaRPr sz="11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(주)무창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kW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(초과량 30.41%)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174.8</a:t>
                      </a:r>
                      <a:endParaRPr b="1"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40"/>
          <p:cNvSpPr/>
          <p:nvPr/>
        </p:nvSpPr>
        <p:spPr>
          <a:xfrm>
            <a:off x="8393825" y="1220400"/>
            <a:ext cx="3114600" cy="770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 txBox="1"/>
          <p:nvPr/>
        </p:nvSpPr>
        <p:spPr>
          <a:xfrm>
            <a:off x="544500" y="4900875"/>
            <a:ext cx="5931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주말 사용량 기준으로 최적 태양광 발전소 연계 용량은 0kW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352.95kW 연계 시 초과량이 30.41% 정도 발생하지만, 솔라쉐어바로 단가가 낮아 요금상계거래 제도를 활용하여도 경제성이 있는것으로 분석됨.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따라서, </a:t>
            </a:r>
            <a:r>
              <a:rPr b="1" lang="ko-KR"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352.95kW</a:t>
            </a: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 요금상계거래를 활용한 솔라쉐어바로 사업으로 제안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80" name="Google Shape;480;p40"/>
          <p:cNvGraphicFramePr/>
          <p:nvPr/>
        </p:nvGraphicFramePr>
        <p:xfrm>
          <a:off x="7222700" y="441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184650"/>
                <a:gridCol w="2716050"/>
              </a:tblGrid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일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229,463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월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578,869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화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644,995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수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657,196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목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644,000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금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434,050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토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90,290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81" name="Google Shape;481;p40" title="차트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25" y="2143113"/>
            <a:ext cx="6659023" cy="2605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0" title="차트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0148" y="2143200"/>
            <a:ext cx="3428536" cy="21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41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41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요금상계거래란? 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2" name="Google Shape;492;p41"/>
          <p:cNvSpPr txBox="1"/>
          <p:nvPr/>
        </p:nvSpPr>
        <p:spPr>
          <a:xfrm>
            <a:off x="521219" y="1268005"/>
            <a:ext cx="10987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상계거래 현금정산 : 10kW 초과~1,000kW 이하의 태양광 발전설비로 자가소비 후 남은 태양광 발전 전기를 판매하는 방식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93" name="Google Shape;493;p41"/>
          <p:cNvGraphicFramePr/>
          <p:nvPr/>
        </p:nvGraphicFramePr>
        <p:xfrm>
          <a:off x="490400" y="17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{C3144E48-DEBB-4059-A88A-F5663A487414}</a:tableStyleId>
              </a:tblPr>
              <a:tblGrid>
                <a:gridCol w="1243775"/>
                <a:gridCol w="1324700"/>
                <a:gridCol w="2245400"/>
                <a:gridCol w="2943425"/>
                <a:gridCol w="345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한전 계약방법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사업구분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발전용량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전기사업방식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전기판매방식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요금 상계거래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현금정산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10kW 초과 ~ 1,000kW 이하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자가소비 후 남은 태양광 발전 전기를 판매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상계거래 누적 잉여전력량 현금정산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(매월 이월량을 1년주기로 SMP만 한전 판매) </a:t>
                      </a:r>
                      <a:endParaRPr b="1" sz="1200">
                        <a:solidFill>
                          <a:srgbClr val="FF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4" name="Google Shape;494;p41"/>
          <p:cNvSpPr txBox="1"/>
          <p:nvPr/>
        </p:nvSpPr>
        <p:spPr>
          <a:xfrm>
            <a:off x="599169" y="297695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요금 정산 방식(</a:t>
            </a: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예시) 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95" name="Google Shape;495;p41"/>
          <p:cNvGraphicFramePr/>
          <p:nvPr/>
        </p:nvGraphicFramePr>
        <p:xfrm>
          <a:off x="490400" y="34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{C3144E48-DEBB-4059-A88A-F5663A487414}</a:tableStyleId>
              </a:tblPr>
              <a:tblGrid>
                <a:gridCol w="1251575"/>
                <a:gridCol w="1251575"/>
                <a:gridCol w="1251575"/>
                <a:gridCol w="1251575"/>
                <a:gridCol w="1548450"/>
                <a:gridCol w="1714900"/>
                <a:gridCol w="1526250"/>
                <a:gridCol w="1415275"/>
              </a:tblGrid>
              <a:tr h="58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발전용량(kW)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년발전량(kWh)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자가소비량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초과발전량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 전력구매비용(C)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자가소비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전력절감액(D)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전기판매수익(E)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첫해년도 기준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전기요금 이득 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A+B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(A+B) x </a:t>
                      </a:r>
                      <a:r>
                        <a:rPr b="1" lang="ko-KR" sz="1200">
                          <a:solidFill>
                            <a:srgbClr val="0000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140원/kWh</a:t>
                      </a:r>
                      <a:endParaRPr b="1" sz="1200">
                        <a:solidFill>
                          <a:srgbClr val="0000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 x 174.8원/kWh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</a:t>
                      </a: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전기요금 절감단가,</a:t>
                      </a:r>
                      <a:endParaRPr sz="11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산업</a:t>
                      </a:r>
                      <a:r>
                        <a:rPr lang="ko-KR" sz="11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용(을) 고압A 선택2 )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 x 112.73원/kWh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(‘25년 육지 SMP)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 + E - C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50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65,700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65,695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9,198,000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11,761,376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642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2,564,018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131,400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105,519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25,881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18,396,000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18,891,067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3,321,309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3,816,375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130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170,820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116,485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54,335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23,914,800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20,854,310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6,972,811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3,912,320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183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240,856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128,839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112,017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33,719,868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23,066,046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14,375,167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3,721,345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6" name="Google Shape;496;p41"/>
          <p:cNvSpPr/>
          <p:nvPr/>
        </p:nvSpPr>
        <p:spPr>
          <a:xfrm>
            <a:off x="487125" y="6123028"/>
            <a:ext cx="11211300" cy="36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10286300" y="3458575"/>
            <a:ext cx="1413300" cy="302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48236" y="149994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2-4. 경제성분석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42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42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발전량 예측 및 분석</a:t>
            </a:r>
            <a:endParaRPr b="1" i="0" sz="13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2-4. 경제성분석_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분석 조건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8" name="Google Shape;508;p42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42"/>
          <p:cNvPicPr preferRelativeResize="0"/>
          <p:nvPr/>
        </p:nvPicPr>
        <p:blipFill rotWithShape="1">
          <a:blip r:embed="rId4">
            <a:alphaModFix/>
          </a:blip>
          <a:srcRect b="0" l="0" r="0" t="-8295"/>
          <a:stretch/>
        </p:blipFill>
        <p:spPr>
          <a:xfrm>
            <a:off x="9293625" y="843430"/>
            <a:ext cx="2353201" cy="537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325" y="1388525"/>
            <a:ext cx="8273575" cy="47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2"/>
          <p:cNvSpPr txBox="1"/>
          <p:nvPr/>
        </p:nvSpPr>
        <p:spPr>
          <a:xfrm>
            <a:off x="953595" y="2191450"/>
            <a:ext cx="1731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발전량 예측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조건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2" name="Google Shape;512;p42"/>
          <p:cNvSpPr txBox="1"/>
          <p:nvPr/>
        </p:nvSpPr>
        <p:spPr>
          <a:xfrm>
            <a:off x="953595" y="4874625"/>
            <a:ext cx="1731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발전량 예측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3319395" y="242650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10개년 평균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기상 조건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4" name="Google Shape;514;p42"/>
          <p:cNvSpPr txBox="1"/>
          <p:nvPr/>
        </p:nvSpPr>
        <p:spPr>
          <a:xfrm>
            <a:off x="5240920" y="242650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 후면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출력 적용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7150395" y="242650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불가동률 등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손실계수 반영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6" name="Google Shape;516;p42"/>
          <p:cNvSpPr txBox="1"/>
          <p:nvPr/>
        </p:nvSpPr>
        <p:spPr>
          <a:xfrm>
            <a:off x="3314545" y="507755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P90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3.60시간/일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7" name="Google Shape;517;p42"/>
          <p:cNvSpPr txBox="1"/>
          <p:nvPr/>
        </p:nvSpPr>
        <p:spPr>
          <a:xfrm>
            <a:off x="5236070" y="507755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P75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3.65시간/일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7145545" y="5077550"/>
            <a:ext cx="1731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P50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0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3.69시간/일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9" name="Google Shape;519;p42"/>
          <p:cNvSpPr txBox="1"/>
          <p:nvPr/>
        </p:nvSpPr>
        <p:spPr>
          <a:xfrm>
            <a:off x="3477823" y="3618625"/>
            <a:ext cx="5258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각 종 외부 변수 고려 P90(90% 확률분포) 기준 3.60시간/일 산정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0" name="Google Shape;520;p42"/>
          <p:cNvSpPr txBox="1"/>
          <p:nvPr/>
        </p:nvSpPr>
        <p:spPr>
          <a:xfrm>
            <a:off x="953600" y="6141425"/>
            <a:ext cx="409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*발전량 예측 예시로, 실제 현장실사 이후 변동될 수 있습니다.</a:t>
            </a:r>
            <a:endParaRPr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43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43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2-4. 경제성분석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43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솔라쉐어바로 경제성 분석 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31" name="Google Shape;531;p43"/>
          <p:cNvGraphicFramePr/>
          <p:nvPr/>
        </p:nvGraphicFramePr>
        <p:xfrm>
          <a:off x="649252" y="170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1398125"/>
                <a:gridCol w="1462625"/>
              </a:tblGrid>
              <a:tr h="4015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발전소 정보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 hMerge="1"/>
              </a:tr>
              <a:tr h="42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설비용량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352.95</a:t>
                      </a:r>
                      <a:r>
                        <a:rPr b="1" lang="ko-KR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kW</a:t>
                      </a:r>
                      <a:endParaRPr b="1"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발전시간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</a:t>
                      </a: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r>
                        <a:rPr lang="ko-KR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시간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 </a:t>
                      </a:r>
                      <a:r>
                        <a:rPr b="1"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소비가능 </a:t>
                      </a: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발전량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 </a:t>
                      </a: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kWh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(초과발전량 30.41%) 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설비효율감소율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575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연간 0.</a:t>
                      </a:r>
                      <a:r>
                        <a:rPr lang="ko-KR" sz="10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%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575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32" name="Google Shape;532;p43"/>
          <p:cNvGrpSpPr/>
          <p:nvPr/>
        </p:nvGrpSpPr>
        <p:grpSpPr>
          <a:xfrm>
            <a:off x="677897" y="1256178"/>
            <a:ext cx="10446578" cy="307800"/>
            <a:chOff x="1381431" y="1508007"/>
            <a:chExt cx="10446578" cy="307800"/>
          </a:xfrm>
        </p:grpSpPr>
        <p:pic>
          <p:nvPicPr>
            <p:cNvPr descr="로고, 그래픽, 상징, 그래픽 디자인이(가) 표시된 사진&#10;&#10;AI가 생성한 콘텐츠는 부정확할 수 있습니다." id="533" name="Google Shape;533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81431" y="1577703"/>
              <a:ext cx="166179" cy="1661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3"/>
            <p:cNvSpPr txBox="1"/>
            <p:nvPr/>
          </p:nvSpPr>
          <p:spPr>
            <a:xfrm>
              <a:off x="1660709" y="1508007"/>
              <a:ext cx="1016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전기요금 </a:t>
              </a:r>
              <a:r>
                <a:rPr lang="ko-KR">
                  <a:latin typeface="Noto Sans KR"/>
                  <a:ea typeface="Noto Sans KR"/>
                  <a:cs typeface="Noto Sans KR"/>
                  <a:sym typeface="Noto Sans KR"/>
                </a:rPr>
                <a:t>연</a:t>
              </a:r>
              <a:r>
                <a:rPr lang="ko-KR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r>
                <a:rPr lang="ko-KR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% 상승 시 </a:t>
              </a:r>
              <a:r>
                <a:rPr lang="ko-KR">
                  <a:latin typeface="Noto Sans KR"/>
                  <a:ea typeface="Noto Sans KR"/>
                  <a:cs typeface="Noto Sans KR"/>
                  <a:sym typeface="Noto Sans KR"/>
                </a:rPr>
                <a:t>20년 누적 </a:t>
              </a:r>
              <a:r>
                <a:rPr lang="ko-KR">
                  <a:solidFill>
                    <a:srgbClr val="0000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7.09억</a:t>
              </a:r>
              <a:r>
                <a:rPr lang="ko-KR">
                  <a:solidFill>
                    <a:srgbClr val="0000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원 이익 </a:t>
              </a:r>
              <a:r>
                <a:rPr lang="ko-KR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확보 가능 </a:t>
              </a:r>
              <a:endParaRPr i="0" sz="1400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aphicFrame>
        <p:nvGraphicFramePr>
          <p:cNvPr id="535" name="Google Shape;535;p43"/>
          <p:cNvGraphicFramePr/>
          <p:nvPr/>
        </p:nvGraphicFramePr>
        <p:xfrm>
          <a:off x="649252" y="4348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1286650"/>
                <a:gridCol w="1574100"/>
              </a:tblGrid>
              <a:tr h="347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575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 hMerge="1"/>
              </a:tr>
              <a:tr h="5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설비임대단가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575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140원/kWh </a:t>
                      </a:r>
                      <a:endParaRPr b="1"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(20년 고정)</a:t>
                      </a:r>
                      <a:endParaRPr b="1"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575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 전력량 단가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(8AM to 7PM)</a:t>
                      </a:r>
                      <a:endParaRPr b="1"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174.8</a:t>
                      </a: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원/kWh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7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(산업</a:t>
                      </a:r>
                      <a:r>
                        <a:rPr lang="ko-KR" sz="7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용(을) 고압A 선택2)</a:t>
                      </a:r>
                      <a:endParaRPr sz="7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전기요금 인상률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C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0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연간 </a:t>
                      </a: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r>
                        <a:rPr lang="ko-KR" sz="10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%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6" name="Google Shape;536;p43"/>
          <p:cNvSpPr txBox="1"/>
          <p:nvPr/>
        </p:nvSpPr>
        <p:spPr>
          <a:xfrm>
            <a:off x="10369972" y="1456027"/>
            <a:ext cx="1276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900">
                <a:solidFill>
                  <a:srgbClr val="000000"/>
                </a:solidFill>
              </a:rPr>
              <a:t>(단위 : </a:t>
            </a:r>
            <a:r>
              <a:rPr lang="ko-KR" sz="900"/>
              <a:t>천</a:t>
            </a:r>
            <a:r>
              <a:rPr lang="ko-KR" sz="900">
                <a:solidFill>
                  <a:srgbClr val="000000"/>
                </a:solidFill>
              </a:rPr>
              <a:t>원)</a:t>
            </a:r>
            <a:endParaRPr b="0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7" name="Google Shape;537;p43"/>
          <p:cNvGraphicFramePr/>
          <p:nvPr/>
        </p:nvGraphicFramePr>
        <p:xfrm>
          <a:off x="3823075" y="170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656900"/>
                <a:gridCol w="880000"/>
                <a:gridCol w="1047800"/>
                <a:gridCol w="1047800"/>
                <a:gridCol w="1047800"/>
                <a:gridCol w="1047800"/>
                <a:gridCol w="1047800"/>
                <a:gridCol w="1047800"/>
              </a:tblGrid>
              <a:tr h="1450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년도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발전량[kWh]</a:t>
                      </a:r>
                      <a:endParaRPr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자가소비량[kWh]</a:t>
                      </a:r>
                      <a:endParaRPr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/>
                        <a:t>초과발전량[kWh]</a:t>
                      </a:r>
                      <a:endParaRPr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솔라쉐어바로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</a:tr>
              <a:tr h="318400"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전력구매비용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(A)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 전력량요금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(B)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초과발전량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전기판매수익(C)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전기요금 연 이득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(B+C-A)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463,776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141,046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64,929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56,413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15,900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7,385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461,921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139,191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64,669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58,670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15,691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9,692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460,074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137,344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64,410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61,017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15,483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12,089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458,233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135,503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64,153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63,457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15,275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14,580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456,400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133,670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63,896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65,995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15,069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17,168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454,575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131,845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63,640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68,635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14,863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19,858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452,756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130,026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63,386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71,381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14,658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22,653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450,945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128,215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63,132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74,236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14,454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25,557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449,142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126,412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62,880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77,205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14,250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28,576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447,345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124,615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62,628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80,294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14,048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31,713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445,556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122,826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62,378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83,505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13,846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34,974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443,773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121,043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62,128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86,846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13,645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38,362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441,998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119,268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61,880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90,319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13,445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41,885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440,230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117,500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61,632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93,932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13,246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45,546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438,469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115,739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61,386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97,689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13,047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49,351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436,716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113,986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61,140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101,597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12,850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53,306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434,969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112,239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60,896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105,661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12,653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57,418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433,229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110,499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60,652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109,887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12,457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61,692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431,496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108,766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60,409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114,283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12,261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66,135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429,770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322,730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107,040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60,168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118,854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12,067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70,753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1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합 계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8,931,373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6,454,600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2,476,773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1,250,392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1,679,877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279,207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708,691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38" name="Google Shape;538;p43"/>
          <p:cNvSpPr txBox="1"/>
          <p:nvPr/>
        </p:nvSpPr>
        <p:spPr>
          <a:xfrm>
            <a:off x="613975" y="6371675"/>
            <a:ext cx="32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 </a:t>
            </a:r>
            <a:r>
              <a:rPr lang="ko-KR" sz="1000" u="sng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한전 전화확인 결과 상계거래 가능한걸로 확인됨</a:t>
            </a:r>
            <a:endParaRPr sz="1200" u="sn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, 스크린샷, 일렉트릭 블루, 패브릭이(가) 표시된 사진&#10;&#10;AI가 생성한 콘텐츠는 부정확할 수 있습니다." id="544" name="Google Shape;5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4"/>
          <p:cNvSpPr txBox="1"/>
          <p:nvPr/>
        </p:nvSpPr>
        <p:spPr>
          <a:xfrm>
            <a:off x="567819" y="3059688"/>
            <a:ext cx="636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ko-KR" sz="3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시공계획</a:t>
            </a:r>
            <a:endParaRPr i="0" sz="31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폰트, 그래픽, 그래픽 디자인, 텍스트이(가) 표시된 사진&#10;&#10;AI가 생성한 콘텐츠는 부정확할 수 있습니다." id="546" name="Google Shape;5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119" y="391740"/>
            <a:ext cx="1059944" cy="2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4"/>
          <p:cNvSpPr txBox="1"/>
          <p:nvPr>
            <p:ph idx="12" type="sldNum"/>
          </p:nvPr>
        </p:nvSpPr>
        <p:spPr>
          <a:xfrm>
            <a:off x="10856800" y="8436658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5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45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45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45"/>
          <p:cNvSpPr/>
          <p:nvPr/>
        </p:nvSpPr>
        <p:spPr>
          <a:xfrm>
            <a:off x="878175" y="1289325"/>
            <a:ext cx="102333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발전소 2,519개소 건설 경험 및 3,798개소의 태양광 유지보수 서비스 경험을 활용하여 적기 준공 완료 </a:t>
            </a:r>
            <a:endParaRPr i="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45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사업 추진 전략 및 일정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878175" y="1532591"/>
            <a:ext cx="10233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SITE 간 </a:t>
            </a: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인력 및 인허가</a:t>
            </a: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 동시 </a:t>
            </a: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r>
              <a:rPr lang="ko-KR">
                <a:latin typeface="Noto Sans KR"/>
                <a:ea typeface="Noto Sans KR"/>
                <a:cs typeface="Noto Sans KR"/>
                <a:sym typeface="Noto Sans KR"/>
              </a:rPr>
              <a:t>으로, 태양광발전소</a:t>
            </a:r>
            <a:r>
              <a:rPr b="1" lang="ko-KR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r>
              <a:rPr b="1"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개월 이내 </a:t>
            </a:r>
            <a:r>
              <a:rPr b="1" lang="ko-KR">
                <a:latin typeface="Noto Sans KR"/>
                <a:ea typeface="Noto Sans KR"/>
                <a:cs typeface="Noto Sans KR"/>
                <a:sym typeface="Noto Sans KR"/>
              </a:rPr>
              <a:t>공사 완료 예정</a:t>
            </a:r>
            <a:endParaRPr b="1" i="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60" name="Google Shape;560;p45"/>
          <p:cNvGrpSpPr/>
          <p:nvPr/>
        </p:nvGrpSpPr>
        <p:grpSpPr>
          <a:xfrm>
            <a:off x="1469433" y="2068800"/>
            <a:ext cx="9253135" cy="2025500"/>
            <a:chOff x="1011050" y="2068800"/>
            <a:chExt cx="9253135" cy="2025500"/>
          </a:xfrm>
        </p:grpSpPr>
        <p:sp>
          <p:nvSpPr>
            <p:cNvPr id="561" name="Google Shape;561;p45"/>
            <p:cNvSpPr/>
            <p:nvPr/>
          </p:nvSpPr>
          <p:spPr>
            <a:xfrm>
              <a:off x="3340425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해당 지자체 접수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-3MW 이하 : 접수 후 약 15일 소요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5669801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자가소비 목적으로 단순병렬운전 신청서 작성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3" name="Google Shape;563;p45"/>
            <p:cNvSpPr/>
            <p:nvPr/>
          </p:nvSpPr>
          <p:spPr>
            <a:xfrm>
              <a:off x="8000076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해당 지자체 접수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전기감리자 선정</a:t>
              </a: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필요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1011050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상세 설계 및 용량확정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상호임대차계약</a:t>
              </a:r>
              <a:b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(전기사용자-발전사업자)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5" name="Google Shape;565;p45"/>
            <p:cNvSpPr/>
            <p:nvPr/>
          </p:nvSpPr>
          <p:spPr>
            <a:xfrm>
              <a:off x="1011050" y="2068800"/>
              <a:ext cx="2264100" cy="321900"/>
            </a:xfrm>
            <a:prstGeom prst="homePlate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 계약 및 협의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6" name="Google Shape;566;p45"/>
            <p:cNvSpPr/>
            <p:nvPr/>
          </p:nvSpPr>
          <p:spPr>
            <a:xfrm>
              <a:off x="3340417" y="2068800"/>
              <a:ext cx="22641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개발행위허가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5669801" y="2068800"/>
              <a:ext cx="22650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단순병렬운전신청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8000085" y="2068800"/>
              <a:ext cx="22641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공사계획신고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69" name="Google Shape;569;p45"/>
          <p:cNvGrpSpPr/>
          <p:nvPr/>
        </p:nvGrpSpPr>
        <p:grpSpPr>
          <a:xfrm>
            <a:off x="1469433" y="4278600"/>
            <a:ext cx="9253135" cy="2025500"/>
            <a:chOff x="1011050" y="2068800"/>
            <a:chExt cx="9253135" cy="2025500"/>
          </a:xfrm>
        </p:grpSpPr>
        <p:sp>
          <p:nvSpPr>
            <p:cNvPr id="570" name="Google Shape;570;p45"/>
            <p:cNvSpPr/>
            <p:nvPr/>
          </p:nvSpPr>
          <p:spPr>
            <a:xfrm>
              <a:off x="3340425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전기안전공사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공사계획신고 내용 및 설비기준 적합여부 검사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1" name="Google Shape;571;p45"/>
            <p:cNvSpPr/>
            <p:nvPr/>
          </p:nvSpPr>
          <p:spPr>
            <a:xfrm>
              <a:off x="5669801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에너지공단 확인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6개월 이내 개발행위준공 필요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2" name="Google Shape;572;p45"/>
            <p:cNvSpPr/>
            <p:nvPr/>
          </p:nvSpPr>
          <p:spPr>
            <a:xfrm>
              <a:off x="8000076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해당 지자체 접수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- 3MW 초과 : 산자부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- 3MW 이하 : 지자체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3" name="Google Shape;573;p45"/>
            <p:cNvSpPr/>
            <p:nvPr/>
          </p:nvSpPr>
          <p:spPr>
            <a:xfrm>
              <a:off x="1011050" y="2299400"/>
              <a:ext cx="2160600" cy="17949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전기공사</a:t>
              </a:r>
              <a:b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(모듈, 인버터 결정)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48200" lvl="0" marL="108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KR"/>
                <a:buChar char="●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구조물공사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4" name="Google Shape;574;p45"/>
            <p:cNvSpPr/>
            <p:nvPr/>
          </p:nvSpPr>
          <p:spPr>
            <a:xfrm>
              <a:off x="1011050" y="2068800"/>
              <a:ext cx="2264100" cy="321900"/>
            </a:xfrm>
            <a:prstGeom prst="homePlate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공사 진행(착공)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5" name="Google Shape;575;p45"/>
            <p:cNvSpPr/>
            <p:nvPr/>
          </p:nvSpPr>
          <p:spPr>
            <a:xfrm>
              <a:off x="3340417" y="2068800"/>
              <a:ext cx="22641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⑥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사용전검사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6" name="Google Shape;576;p45"/>
            <p:cNvSpPr/>
            <p:nvPr/>
          </p:nvSpPr>
          <p:spPr>
            <a:xfrm>
              <a:off x="5669801" y="2068800"/>
              <a:ext cx="22650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⑦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개발행위준공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77" name="Google Shape;577;p45"/>
            <p:cNvSpPr/>
            <p:nvPr/>
          </p:nvSpPr>
          <p:spPr>
            <a:xfrm>
              <a:off x="8000085" y="2068800"/>
              <a:ext cx="2264100" cy="321900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⑧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사업개시신고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4" name="Google Shape;584;p46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46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6" name="Google Shape;586;p46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6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태양광 설치공사 </a:t>
            </a: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세부 작업 계획(</a:t>
            </a: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안)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88" name="Google Shape;588;p46"/>
          <p:cNvGraphicFramePr/>
          <p:nvPr/>
        </p:nvGraphicFramePr>
        <p:xfrm>
          <a:off x="981075" y="144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1266825"/>
                <a:gridCol w="1343025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  <a:gridCol w="190500"/>
              </a:tblGrid>
              <a:tr h="2286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M+1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M+2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M+3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M+4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M+5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M+6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M+7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M+8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M+9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28600">
                <a:tc row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 인허가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개발행위허가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공사계획신고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사용전 검사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개발행위준공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row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 자재발주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구조물 발주 및 제작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수배전반 발주 및 제작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모듈 발주 및 운송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인버터 발주 및 운송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 구조물 설치공사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구조물 조립 및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모듈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row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 전기 공사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수배전반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인버터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케이블트레이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모듈~모듈 결선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모듈~인버터 결선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수배전반~인버터 결선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5. 전기실 설치공사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전기실 휀스 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6. 모니터링 설치공사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모니터링 장비설치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7. Project Close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준공검사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발전소 운영 개시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</a:tbl>
          </a:graphicData>
        </a:graphic>
      </p:graphicFrame>
      <p:cxnSp>
        <p:nvCxnSpPr>
          <p:cNvPr id="589" name="Google Shape;589;p46"/>
          <p:cNvCxnSpPr>
            <a:stCxn id="590" idx="6"/>
            <a:endCxn id="591" idx="2"/>
          </p:cNvCxnSpPr>
          <p:nvPr/>
        </p:nvCxnSpPr>
        <p:spPr>
          <a:xfrm>
            <a:off x="5014144" y="2702732"/>
            <a:ext cx="1924800" cy="48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46"/>
          <p:cNvCxnSpPr>
            <a:stCxn id="593" idx="2"/>
            <a:endCxn id="594" idx="6"/>
          </p:cNvCxnSpPr>
          <p:nvPr/>
        </p:nvCxnSpPr>
        <p:spPr>
          <a:xfrm rot="10800000">
            <a:off x="5382821" y="3170809"/>
            <a:ext cx="1713300" cy="90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46"/>
          <p:cNvCxnSpPr>
            <a:stCxn id="596" idx="4"/>
            <a:endCxn id="594" idx="0"/>
          </p:cNvCxnSpPr>
          <p:nvPr/>
        </p:nvCxnSpPr>
        <p:spPr>
          <a:xfrm>
            <a:off x="5209465" y="2775032"/>
            <a:ext cx="100800" cy="3234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46"/>
          <p:cNvCxnSpPr/>
          <p:nvPr/>
        </p:nvCxnSpPr>
        <p:spPr>
          <a:xfrm>
            <a:off x="7192054" y="3223610"/>
            <a:ext cx="64800" cy="1794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46"/>
          <p:cNvSpPr/>
          <p:nvPr/>
        </p:nvSpPr>
        <p:spPr>
          <a:xfrm>
            <a:off x="5137015" y="2630432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7096121" y="31075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p46"/>
          <p:cNvCxnSpPr>
            <a:endCxn id="599" idx="2"/>
          </p:cNvCxnSpPr>
          <p:nvPr/>
        </p:nvCxnSpPr>
        <p:spPr>
          <a:xfrm>
            <a:off x="7256846" y="3400496"/>
            <a:ext cx="265200" cy="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p46"/>
          <p:cNvSpPr/>
          <p:nvPr/>
        </p:nvSpPr>
        <p:spPr>
          <a:xfrm>
            <a:off x="7522046" y="3328196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46"/>
          <p:cNvCxnSpPr/>
          <p:nvPr/>
        </p:nvCxnSpPr>
        <p:spPr>
          <a:xfrm>
            <a:off x="7007604" y="2752210"/>
            <a:ext cx="99000" cy="1977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46"/>
          <p:cNvCxnSpPr/>
          <p:nvPr/>
        </p:nvCxnSpPr>
        <p:spPr>
          <a:xfrm flipH="1" rot="10800000">
            <a:off x="7100216" y="2935157"/>
            <a:ext cx="587100" cy="9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46"/>
          <p:cNvSpPr/>
          <p:nvPr/>
        </p:nvSpPr>
        <p:spPr>
          <a:xfrm>
            <a:off x="7696446" y="28447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6938940" y="2635332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6"/>
          <p:cNvSpPr/>
          <p:nvPr/>
        </p:nvSpPr>
        <p:spPr>
          <a:xfrm>
            <a:off x="5727875" y="2577788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구조물 발주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4" name="Google Shape;604;p46"/>
          <p:cNvSpPr/>
          <p:nvPr/>
        </p:nvSpPr>
        <p:spPr>
          <a:xfrm>
            <a:off x="5916250" y="3053850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발주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7145675" y="2779925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수배전반 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발주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7256687" y="3215825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인버터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발주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07" name="Google Shape;607;p46"/>
          <p:cNvCxnSpPr>
            <a:stCxn id="608" idx="6"/>
          </p:cNvCxnSpPr>
          <p:nvPr/>
        </p:nvCxnSpPr>
        <p:spPr>
          <a:xfrm flipH="1" rot="10800000">
            <a:off x="4823169" y="1776156"/>
            <a:ext cx="1007700" cy="48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46"/>
          <p:cNvCxnSpPr>
            <a:stCxn id="608" idx="4"/>
            <a:endCxn id="590" idx="1"/>
          </p:cNvCxnSpPr>
          <p:nvPr/>
        </p:nvCxnSpPr>
        <p:spPr>
          <a:xfrm>
            <a:off x="4750719" y="1853256"/>
            <a:ext cx="139800" cy="7983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8" name="Google Shape;608;p46"/>
          <p:cNvSpPr/>
          <p:nvPr/>
        </p:nvSpPr>
        <p:spPr>
          <a:xfrm>
            <a:off x="4678269" y="1708656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46"/>
          <p:cNvCxnSpPr>
            <a:endCxn id="611" idx="2"/>
          </p:cNvCxnSpPr>
          <p:nvPr/>
        </p:nvCxnSpPr>
        <p:spPr>
          <a:xfrm>
            <a:off x="5926396" y="2027409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46"/>
          <p:cNvCxnSpPr/>
          <p:nvPr/>
        </p:nvCxnSpPr>
        <p:spPr>
          <a:xfrm>
            <a:off x="5862754" y="1787260"/>
            <a:ext cx="71400" cy="2478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1" name="Google Shape;611;p46"/>
          <p:cNvSpPr/>
          <p:nvPr/>
        </p:nvSpPr>
        <p:spPr>
          <a:xfrm>
            <a:off x="6931996" y="19551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6"/>
          <p:cNvSpPr/>
          <p:nvPr/>
        </p:nvSpPr>
        <p:spPr>
          <a:xfrm>
            <a:off x="5856621" y="19551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5795890" y="1706256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6"/>
          <p:cNvSpPr/>
          <p:nvPr/>
        </p:nvSpPr>
        <p:spPr>
          <a:xfrm>
            <a:off x="5022587" y="1654050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개발행위허가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6" name="Google Shape;616;p46"/>
          <p:cNvSpPr/>
          <p:nvPr/>
        </p:nvSpPr>
        <p:spPr>
          <a:xfrm>
            <a:off x="6179825" y="1898313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공사계획신고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17" name="Google Shape;617;p46"/>
          <p:cNvCxnSpPr/>
          <p:nvPr/>
        </p:nvCxnSpPr>
        <p:spPr>
          <a:xfrm>
            <a:off x="5178421" y="3603721"/>
            <a:ext cx="2031300" cy="120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18" name="Google Shape;618;p46"/>
          <p:cNvCxnSpPr>
            <a:stCxn id="590" idx="4"/>
          </p:cNvCxnSpPr>
          <p:nvPr/>
        </p:nvCxnSpPr>
        <p:spPr>
          <a:xfrm>
            <a:off x="4941694" y="2775031"/>
            <a:ext cx="225600" cy="8382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46"/>
          <p:cNvCxnSpPr/>
          <p:nvPr/>
        </p:nvCxnSpPr>
        <p:spPr>
          <a:xfrm flipH="1" rot="10800000">
            <a:off x="7191550" y="3607675"/>
            <a:ext cx="737400" cy="54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0" name="Google Shape;620;p46"/>
          <p:cNvSpPr/>
          <p:nvPr/>
        </p:nvSpPr>
        <p:spPr>
          <a:xfrm>
            <a:off x="7894121" y="35374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6"/>
          <p:cNvSpPr/>
          <p:nvPr/>
        </p:nvSpPr>
        <p:spPr>
          <a:xfrm>
            <a:off x="4869244" y="2630432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6"/>
          <p:cNvSpPr/>
          <p:nvPr/>
        </p:nvSpPr>
        <p:spPr>
          <a:xfrm>
            <a:off x="7252700" y="3484925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구조물 설치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22" name="Google Shape;622;p46"/>
          <p:cNvCxnSpPr>
            <a:stCxn id="623" idx="5"/>
            <a:endCxn id="624" idx="5"/>
          </p:cNvCxnSpPr>
          <p:nvPr/>
        </p:nvCxnSpPr>
        <p:spPr>
          <a:xfrm>
            <a:off x="7219801" y="3662057"/>
            <a:ext cx="426000" cy="2502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3" name="Google Shape;623;p46"/>
          <p:cNvSpPr/>
          <p:nvPr/>
        </p:nvSpPr>
        <p:spPr>
          <a:xfrm>
            <a:off x="7096121" y="35386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46"/>
          <p:cNvCxnSpPr>
            <a:endCxn id="626" idx="2"/>
          </p:cNvCxnSpPr>
          <p:nvPr/>
        </p:nvCxnSpPr>
        <p:spPr>
          <a:xfrm flipH="1" rot="10800000">
            <a:off x="7594421" y="3864309"/>
            <a:ext cx="682200" cy="9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6" name="Google Shape;626;p46"/>
          <p:cNvSpPr/>
          <p:nvPr/>
        </p:nvSpPr>
        <p:spPr>
          <a:xfrm>
            <a:off x="8276621" y="37920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46"/>
          <p:cNvCxnSpPr/>
          <p:nvPr/>
        </p:nvCxnSpPr>
        <p:spPr>
          <a:xfrm>
            <a:off x="5570275" y="3861300"/>
            <a:ext cx="2042400" cy="90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46"/>
          <p:cNvCxnSpPr/>
          <p:nvPr/>
        </p:nvCxnSpPr>
        <p:spPr>
          <a:xfrm>
            <a:off x="5344628" y="3223605"/>
            <a:ext cx="217200" cy="6549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29" name="Google Shape;629;p46"/>
          <p:cNvSpPr/>
          <p:nvPr/>
        </p:nvSpPr>
        <p:spPr>
          <a:xfrm>
            <a:off x="7612575" y="3745125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설치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30" name="Google Shape;630;p46"/>
          <p:cNvCxnSpPr>
            <a:endCxn id="631" idx="1"/>
          </p:cNvCxnSpPr>
          <p:nvPr/>
        </p:nvCxnSpPr>
        <p:spPr>
          <a:xfrm>
            <a:off x="7591341" y="3941660"/>
            <a:ext cx="324000" cy="7515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46"/>
          <p:cNvSpPr/>
          <p:nvPr/>
        </p:nvSpPr>
        <p:spPr>
          <a:xfrm>
            <a:off x="7522046" y="37887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46"/>
          <p:cNvCxnSpPr/>
          <p:nvPr/>
        </p:nvCxnSpPr>
        <p:spPr>
          <a:xfrm>
            <a:off x="7973325" y="4743075"/>
            <a:ext cx="885900" cy="24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" name="Google Shape;633;p46"/>
          <p:cNvSpPr/>
          <p:nvPr/>
        </p:nvSpPr>
        <p:spPr>
          <a:xfrm>
            <a:off x="8859221" y="467198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46"/>
          <p:cNvCxnSpPr>
            <a:stCxn id="631" idx="5"/>
            <a:endCxn id="635" idx="2"/>
          </p:cNvCxnSpPr>
          <p:nvPr/>
        </p:nvCxnSpPr>
        <p:spPr>
          <a:xfrm>
            <a:off x="8017801" y="4795407"/>
            <a:ext cx="462600" cy="2061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6" name="Google Shape;636;p46"/>
          <p:cNvSpPr/>
          <p:nvPr/>
        </p:nvSpPr>
        <p:spPr>
          <a:xfrm>
            <a:off x="9242621" y="49291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6"/>
          <p:cNvSpPr/>
          <p:nvPr/>
        </p:nvSpPr>
        <p:spPr>
          <a:xfrm>
            <a:off x="8565825" y="4870125"/>
            <a:ext cx="7317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모듈-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인버터 결선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38" name="Google Shape;638;p46"/>
          <p:cNvCxnSpPr/>
          <p:nvPr/>
        </p:nvCxnSpPr>
        <p:spPr>
          <a:xfrm>
            <a:off x="8543921" y="5001909"/>
            <a:ext cx="705300" cy="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9" name="Google Shape;639;p46"/>
          <p:cNvSpPr/>
          <p:nvPr/>
        </p:nvSpPr>
        <p:spPr>
          <a:xfrm>
            <a:off x="8050425" y="4619575"/>
            <a:ext cx="7317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모듈-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결선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40" name="Google Shape;640;p46"/>
          <p:cNvCxnSpPr>
            <a:stCxn id="635" idx="5"/>
            <a:endCxn id="641" idx="2"/>
          </p:cNvCxnSpPr>
          <p:nvPr/>
        </p:nvCxnSpPr>
        <p:spPr>
          <a:xfrm>
            <a:off x="8604026" y="5052582"/>
            <a:ext cx="441300" cy="177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2" name="Google Shape;642;p46"/>
          <p:cNvCxnSpPr/>
          <p:nvPr/>
        </p:nvCxnSpPr>
        <p:spPr>
          <a:xfrm flipH="1" rot="10800000">
            <a:off x="9116775" y="5228050"/>
            <a:ext cx="551700" cy="18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5" name="Google Shape;635;p46"/>
          <p:cNvSpPr/>
          <p:nvPr/>
        </p:nvSpPr>
        <p:spPr>
          <a:xfrm>
            <a:off x="8480346" y="49291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46"/>
          <p:cNvCxnSpPr/>
          <p:nvPr/>
        </p:nvCxnSpPr>
        <p:spPr>
          <a:xfrm flipH="1" rot="10800000">
            <a:off x="9133675" y="5429650"/>
            <a:ext cx="556500" cy="39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44" name="Google Shape;644;p46"/>
          <p:cNvCxnSpPr>
            <a:endCxn id="645" idx="0"/>
          </p:cNvCxnSpPr>
          <p:nvPr/>
        </p:nvCxnSpPr>
        <p:spPr>
          <a:xfrm>
            <a:off x="9115571" y="5210909"/>
            <a:ext cx="20100" cy="4008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41" name="Google Shape;641;p46"/>
          <p:cNvSpPr/>
          <p:nvPr/>
        </p:nvSpPr>
        <p:spPr>
          <a:xfrm>
            <a:off x="9045296" y="51577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46"/>
          <p:cNvCxnSpPr/>
          <p:nvPr/>
        </p:nvCxnSpPr>
        <p:spPr>
          <a:xfrm flipH="1" rot="10800000">
            <a:off x="9155925" y="5695125"/>
            <a:ext cx="342600" cy="3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46"/>
          <p:cNvCxnSpPr/>
          <p:nvPr/>
        </p:nvCxnSpPr>
        <p:spPr>
          <a:xfrm flipH="1" rot="10800000">
            <a:off x="9690175" y="5429800"/>
            <a:ext cx="342600" cy="3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46"/>
          <p:cNvSpPr/>
          <p:nvPr/>
        </p:nvSpPr>
        <p:spPr>
          <a:xfrm>
            <a:off x="9443521" y="56117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6"/>
          <p:cNvSpPr/>
          <p:nvPr/>
        </p:nvSpPr>
        <p:spPr>
          <a:xfrm>
            <a:off x="8706450" y="5759263"/>
            <a:ext cx="8226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모니터링 장비설치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50" name="Google Shape;650;p46"/>
          <p:cNvCxnSpPr/>
          <p:nvPr/>
        </p:nvCxnSpPr>
        <p:spPr>
          <a:xfrm>
            <a:off x="10111128" y="5433543"/>
            <a:ext cx="341100" cy="4632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46"/>
          <p:cNvCxnSpPr/>
          <p:nvPr/>
        </p:nvCxnSpPr>
        <p:spPr>
          <a:xfrm flipH="1" rot="10800000">
            <a:off x="10448925" y="5905725"/>
            <a:ext cx="574200" cy="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2" name="Google Shape;652;p46"/>
          <p:cNvSpPr/>
          <p:nvPr/>
        </p:nvSpPr>
        <p:spPr>
          <a:xfrm>
            <a:off x="10974921" y="58337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6"/>
          <p:cNvSpPr/>
          <p:nvPr/>
        </p:nvSpPr>
        <p:spPr>
          <a:xfrm>
            <a:off x="10355600" y="5714925"/>
            <a:ext cx="8226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시운전 및 준공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10012796" y="53593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46"/>
          <p:cNvCxnSpPr/>
          <p:nvPr/>
        </p:nvCxnSpPr>
        <p:spPr>
          <a:xfrm>
            <a:off x="10439703" y="5915293"/>
            <a:ext cx="84900" cy="254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46"/>
          <p:cNvCxnSpPr/>
          <p:nvPr/>
        </p:nvCxnSpPr>
        <p:spPr>
          <a:xfrm flipH="1" rot="10800000">
            <a:off x="10521375" y="6152150"/>
            <a:ext cx="556500" cy="39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57" name="Google Shape;657;p46"/>
          <p:cNvSpPr/>
          <p:nvPr/>
        </p:nvSpPr>
        <p:spPr>
          <a:xfrm>
            <a:off x="10523775" y="6033350"/>
            <a:ext cx="5517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상업운전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11106396" y="605918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6"/>
          <p:cNvSpPr/>
          <p:nvPr/>
        </p:nvSpPr>
        <p:spPr>
          <a:xfrm>
            <a:off x="10381446" y="58337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46"/>
          <p:cNvCxnSpPr>
            <a:endCxn id="661" idx="4"/>
          </p:cNvCxnSpPr>
          <p:nvPr/>
        </p:nvCxnSpPr>
        <p:spPr>
          <a:xfrm flipH="1" rot="10800000">
            <a:off x="9694946" y="2299159"/>
            <a:ext cx="390300" cy="29322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62" name="Google Shape;662;p46"/>
          <p:cNvCxnSpPr>
            <a:endCxn id="663" idx="1"/>
          </p:cNvCxnSpPr>
          <p:nvPr/>
        </p:nvCxnSpPr>
        <p:spPr>
          <a:xfrm>
            <a:off x="10449741" y="2282310"/>
            <a:ext cx="30300" cy="1614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46"/>
          <p:cNvSpPr/>
          <p:nvPr/>
        </p:nvSpPr>
        <p:spPr>
          <a:xfrm>
            <a:off x="9623621" y="51577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6"/>
          <p:cNvSpPr/>
          <p:nvPr/>
        </p:nvSpPr>
        <p:spPr>
          <a:xfrm>
            <a:off x="9190200" y="5091500"/>
            <a:ext cx="8226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수배전반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-인버터 결선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66" name="Google Shape;666;p46"/>
          <p:cNvCxnSpPr>
            <a:stCxn id="661" idx="6"/>
            <a:endCxn id="667" idx="2"/>
          </p:cNvCxnSpPr>
          <p:nvPr/>
        </p:nvCxnSpPr>
        <p:spPr>
          <a:xfrm>
            <a:off x="10157696" y="2226859"/>
            <a:ext cx="223800" cy="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46"/>
          <p:cNvCxnSpPr/>
          <p:nvPr/>
        </p:nvCxnSpPr>
        <p:spPr>
          <a:xfrm flipH="1" rot="10800000">
            <a:off x="10515250" y="2475225"/>
            <a:ext cx="300900" cy="27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9" name="Google Shape;669;p46"/>
          <p:cNvSpPr/>
          <p:nvPr/>
        </p:nvSpPr>
        <p:spPr>
          <a:xfrm>
            <a:off x="10766459" y="24225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6"/>
          <p:cNvSpPr/>
          <p:nvPr/>
        </p:nvSpPr>
        <p:spPr>
          <a:xfrm>
            <a:off x="10381446" y="21545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6"/>
          <p:cNvSpPr/>
          <p:nvPr/>
        </p:nvSpPr>
        <p:spPr>
          <a:xfrm>
            <a:off x="10012796" y="215455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9994725" y="2035050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사용전검사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1" name="Google Shape;671;p46"/>
          <p:cNvSpPr/>
          <p:nvPr/>
        </p:nvSpPr>
        <p:spPr>
          <a:xfrm>
            <a:off x="10378750" y="2572138"/>
            <a:ext cx="573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개발행위준공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5237934" y="3098396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9623621" y="53593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6"/>
          <p:cNvSpPr/>
          <p:nvPr/>
        </p:nvSpPr>
        <p:spPr>
          <a:xfrm>
            <a:off x="9063221" y="56117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9284775" y="5504938"/>
            <a:ext cx="8226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전기실 휀스 설치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3" name="Google Shape;663;p46"/>
          <p:cNvSpPr/>
          <p:nvPr/>
        </p:nvSpPr>
        <p:spPr>
          <a:xfrm>
            <a:off x="10458821" y="242253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4" name="Google Shape;674;p46"/>
          <p:cNvCxnSpPr/>
          <p:nvPr/>
        </p:nvCxnSpPr>
        <p:spPr>
          <a:xfrm flipH="1" rot="10800000">
            <a:off x="8253025" y="4067800"/>
            <a:ext cx="1245600" cy="18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75" name="Google Shape;675;p46"/>
          <p:cNvCxnSpPr/>
          <p:nvPr/>
        </p:nvCxnSpPr>
        <p:spPr>
          <a:xfrm flipH="1" rot="10800000">
            <a:off x="9114588" y="4066900"/>
            <a:ext cx="342600" cy="3600"/>
          </a:xfrm>
          <a:prstGeom prst="straightConnector1">
            <a:avLst/>
          </a:prstGeom>
          <a:noFill/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46"/>
          <p:cNvSpPr/>
          <p:nvPr/>
        </p:nvSpPr>
        <p:spPr>
          <a:xfrm>
            <a:off x="9437209" y="39964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6"/>
          <p:cNvSpPr/>
          <p:nvPr/>
        </p:nvSpPr>
        <p:spPr>
          <a:xfrm>
            <a:off x="9048034" y="3996409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6"/>
          <p:cNvSpPr/>
          <p:nvPr/>
        </p:nvSpPr>
        <p:spPr>
          <a:xfrm>
            <a:off x="8961375" y="3901525"/>
            <a:ext cx="7317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수배전반 설치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79" name="Google Shape;679;p46"/>
          <p:cNvCxnSpPr/>
          <p:nvPr/>
        </p:nvCxnSpPr>
        <p:spPr>
          <a:xfrm flipH="1" rot="10800000">
            <a:off x="7972428" y="4085818"/>
            <a:ext cx="276600" cy="682200"/>
          </a:xfrm>
          <a:prstGeom prst="straightConnector1">
            <a:avLst/>
          </a:prstGeom>
          <a:noFill/>
          <a:ln cap="flat" cmpd="sng" w="12700">
            <a:solidFill>
              <a:srgbClr val="3473BA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80" name="Google Shape;680;p46"/>
          <p:cNvSpPr/>
          <p:nvPr/>
        </p:nvSpPr>
        <p:spPr>
          <a:xfrm>
            <a:off x="6932000" y="3484925"/>
            <a:ext cx="3268500" cy="2493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7894121" y="4671984"/>
            <a:ext cx="144900" cy="144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473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6"/>
          <p:cNvSpPr/>
          <p:nvPr/>
        </p:nvSpPr>
        <p:spPr>
          <a:xfrm>
            <a:off x="9387528" y="3181172"/>
            <a:ext cx="825300" cy="321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설치공사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82" name="Google Shape;682;p46"/>
          <p:cNvCxnSpPr/>
          <p:nvPr/>
        </p:nvCxnSpPr>
        <p:spPr>
          <a:xfrm flipH="1" rot="10800000">
            <a:off x="3592575" y="1798600"/>
            <a:ext cx="1085700" cy="3600"/>
          </a:xfrm>
          <a:prstGeom prst="straightConnector1">
            <a:avLst/>
          </a:prstGeom>
          <a:noFill/>
          <a:ln cap="flat" cmpd="sng" w="12700">
            <a:solidFill>
              <a:srgbClr val="6AA84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83" name="Google Shape;683;p46"/>
          <p:cNvSpPr/>
          <p:nvPr/>
        </p:nvSpPr>
        <p:spPr>
          <a:xfrm>
            <a:off x="3791475" y="1669938"/>
            <a:ext cx="687900" cy="11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계약 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및</a:t>
            </a:r>
            <a:r>
              <a:rPr lang="ko-KR" sz="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협의</a:t>
            </a:r>
            <a:endParaRPr sz="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4" name="Google Shape;684;p46"/>
          <p:cNvSpPr/>
          <p:nvPr/>
        </p:nvSpPr>
        <p:spPr>
          <a:xfrm>
            <a:off x="10097800" y="1144430"/>
            <a:ext cx="1126200" cy="27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 : 계약일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3967325" y="4862400"/>
            <a:ext cx="2334600" cy="27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*전기실 연계 시 </a:t>
            </a:r>
            <a:r>
              <a:rPr b="1" lang="ko-KR" sz="11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정전작업 1회 필요</a:t>
            </a:r>
            <a:endParaRPr sz="110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981075" y="6241725"/>
            <a:ext cx="657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</a:t>
            </a: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사이트별 공정 기간은 변동이 있을 수 있습니다다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5" y="2294276"/>
            <a:ext cx="12192000" cy="407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7"/>
          <p:cNvPicPr preferRelativeResize="0"/>
          <p:nvPr/>
        </p:nvPicPr>
        <p:blipFill rotWithShape="1">
          <a:blip r:embed="rId4">
            <a:alphaModFix/>
          </a:blip>
          <a:srcRect b="15031" l="0" r="0" t="0"/>
          <a:stretch/>
        </p:blipFill>
        <p:spPr>
          <a:xfrm>
            <a:off x="8450450" y="2572100"/>
            <a:ext cx="2117827" cy="158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7225" y="2572100"/>
            <a:ext cx="2117699" cy="158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/>
          <p:cNvPicPr preferRelativeResize="0"/>
          <p:nvPr/>
        </p:nvPicPr>
        <p:blipFill rotWithShape="1">
          <a:blip r:embed="rId6">
            <a:alphaModFix/>
          </a:blip>
          <a:srcRect b="9780" l="0" r="0" t="0"/>
          <a:stretch/>
        </p:blipFill>
        <p:spPr>
          <a:xfrm>
            <a:off x="1623875" y="2572100"/>
            <a:ext cx="2117699" cy="1588399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7"/>
          <p:cNvSpPr/>
          <p:nvPr/>
        </p:nvSpPr>
        <p:spPr>
          <a:xfrm>
            <a:off x="1236600" y="1774975"/>
            <a:ext cx="10955400" cy="3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97" name="Google Shape;69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8" name="Google Shape;698;p47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9" name="Google Shape;699;p47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0" name="Google Shape;700;p47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1" name="Google Shape;701;p47"/>
          <p:cNvGrpSpPr/>
          <p:nvPr/>
        </p:nvGrpSpPr>
        <p:grpSpPr>
          <a:xfrm>
            <a:off x="5037213" y="1532275"/>
            <a:ext cx="2117700" cy="4665925"/>
            <a:chOff x="4590200" y="1760875"/>
            <a:chExt cx="2117700" cy="4665925"/>
          </a:xfrm>
        </p:grpSpPr>
        <p:sp>
          <p:nvSpPr>
            <p:cNvPr id="702" name="Google Shape;702;p47"/>
            <p:cNvSpPr/>
            <p:nvPr/>
          </p:nvSpPr>
          <p:spPr>
            <a:xfrm rot="10795212">
              <a:off x="5541200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5386550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4590200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47"/>
            <p:cNvSpPr txBox="1"/>
            <p:nvPr/>
          </p:nvSpPr>
          <p:spPr>
            <a:xfrm>
              <a:off x="4845059" y="4526425"/>
              <a:ext cx="17178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보강 및 교체 공사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06" name="Google Shape;706;p47"/>
            <p:cNvSpPr txBox="1"/>
            <p:nvPr/>
          </p:nvSpPr>
          <p:spPr>
            <a:xfrm>
              <a:off x="4692675" y="4921650"/>
              <a:ext cx="20151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상태 노후화 건축물 상부 및 지붕 강판에 대하여 보강 공사 및 교체 공사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7일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07" name="Google Shape;707;p47"/>
            <p:cNvSpPr/>
            <p:nvPr/>
          </p:nvSpPr>
          <p:spPr>
            <a:xfrm>
              <a:off x="4692675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08" name="Google Shape;708;p47"/>
          <p:cNvSpPr/>
          <p:nvPr/>
        </p:nvSpPr>
        <p:spPr>
          <a:xfrm>
            <a:off x="1010100" y="1681375"/>
            <a:ext cx="226500" cy="2265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9" name="Google Shape;709;p47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세부 공정 계획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710" name="Google Shape;710;p47"/>
          <p:cNvGrpSpPr/>
          <p:nvPr/>
        </p:nvGrpSpPr>
        <p:grpSpPr>
          <a:xfrm>
            <a:off x="8450438" y="1532275"/>
            <a:ext cx="2117700" cy="4665925"/>
            <a:chOff x="7821225" y="1760875"/>
            <a:chExt cx="2117700" cy="4665925"/>
          </a:xfrm>
        </p:grpSpPr>
        <p:sp>
          <p:nvSpPr>
            <p:cNvPr id="711" name="Google Shape;711;p47"/>
            <p:cNvSpPr/>
            <p:nvPr/>
          </p:nvSpPr>
          <p:spPr>
            <a:xfrm rot="10795212">
              <a:off x="87722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86175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78212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47"/>
            <p:cNvSpPr txBox="1"/>
            <p:nvPr/>
          </p:nvSpPr>
          <p:spPr>
            <a:xfrm>
              <a:off x="80760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방호난간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15" name="Google Shape;715;p47"/>
            <p:cNvSpPr txBox="1"/>
            <p:nvPr/>
          </p:nvSpPr>
          <p:spPr>
            <a:xfrm>
              <a:off x="7923700" y="4921650"/>
              <a:ext cx="2015100" cy="115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박공 지붕형태의 옥상의 경우 추락 및 구조물의 전도 등에 의한 사고 방지를 위해 방호 난간 등 설치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10일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79237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7" name="Google Shape;717;p47"/>
          <p:cNvGrpSpPr/>
          <p:nvPr/>
        </p:nvGrpSpPr>
        <p:grpSpPr>
          <a:xfrm>
            <a:off x="1623988" y="1532275"/>
            <a:ext cx="2117700" cy="4665925"/>
            <a:chOff x="1471025" y="1760875"/>
            <a:chExt cx="2117700" cy="4665925"/>
          </a:xfrm>
        </p:grpSpPr>
        <p:sp>
          <p:nvSpPr>
            <p:cNvPr id="718" name="Google Shape;718;p47"/>
            <p:cNvSpPr/>
            <p:nvPr/>
          </p:nvSpPr>
          <p:spPr>
            <a:xfrm rot="10795212">
              <a:off x="24220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22673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14710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1" name="Google Shape;721;p47"/>
            <p:cNvSpPr txBox="1"/>
            <p:nvPr/>
          </p:nvSpPr>
          <p:spPr>
            <a:xfrm>
              <a:off x="17258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채광창 덮방공사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22" name="Google Shape;722;p47"/>
            <p:cNvSpPr txBox="1"/>
            <p:nvPr/>
          </p:nvSpPr>
          <p:spPr>
            <a:xfrm>
              <a:off x="1573500" y="4921650"/>
              <a:ext cx="20151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기존 채광창 강판 등 활용하여 덮방공사 실시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5일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15735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24" name="Google Shape;724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1775" y="1633700"/>
            <a:ext cx="321900" cy="3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55100" y="1653675"/>
            <a:ext cx="281950" cy="2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48475" y="1633700"/>
            <a:ext cx="321900" cy="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47"/>
          <p:cNvSpPr/>
          <p:nvPr/>
        </p:nvSpPr>
        <p:spPr>
          <a:xfrm>
            <a:off x="162387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p47"/>
          <p:cNvSpPr/>
          <p:nvPr/>
        </p:nvSpPr>
        <p:spPr>
          <a:xfrm>
            <a:off x="503722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9" name="Google Shape;729;p47"/>
          <p:cNvSpPr/>
          <p:nvPr/>
        </p:nvSpPr>
        <p:spPr>
          <a:xfrm>
            <a:off x="8450450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5" y="2294276"/>
            <a:ext cx="12192000" cy="4071498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8"/>
          <p:cNvSpPr/>
          <p:nvPr/>
        </p:nvSpPr>
        <p:spPr>
          <a:xfrm>
            <a:off x="0" y="1774975"/>
            <a:ext cx="12192000" cy="3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37" name="Google Shape;737;p48"/>
          <p:cNvPicPr preferRelativeResize="0"/>
          <p:nvPr/>
        </p:nvPicPr>
        <p:blipFill rotWithShape="1">
          <a:blip r:embed="rId4">
            <a:alphaModFix/>
          </a:blip>
          <a:srcRect b="5341" l="0" r="0" t="19539"/>
          <a:stretch/>
        </p:blipFill>
        <p:spPr>
          <a:xfrm>
            <a:off x="5037100" y="2572100"/>
            <a:ext cx="2117700" cy="1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48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48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1" name="Google Shape;741;p48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2" name="Google Shape;742;p48"/>
          <p:cNvGrpSpPr/>
          <p:nvPr/>
        </p:nvGrpSpPr>
        <p:grpSpPr>
          <a:xfrm>
            <a:off x="1623863" y="1532275"/>
            <a:ext cx="2117825" cy="4665925"/>
            <a:chOff x="1470900" y="1760875"/>
            <a:chExt cx="2117825" cy="4665925"/>
          </a:xfrm>
        </p:grpSpPr>
        <p:sp>
          <p:nvSpPr>
            <p:cNvPr id="743" name="Google Shape;743;p48"/>
            <p:cNvSpPr/>
            <p:nvPr/>
          </p:nvSpPr>
          <p:spPr>
            <a:xfrm rot="10795212">
              <a:off x="24220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22673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745" name="Google Shape;745;p4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70900" y="2803374"/>
              <a:ext cx="2117652" cy="1588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p48"/>
            <p:cNvSpPr/>
            <p:nvPr/>
          </p:nvSpPr>
          <p:spPr>
            <a:xfrm>
              <a:off x="14710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747" name="Google Shape;747;p4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350863" y="1850566"/>
              <a:ext cx="357725" cy="35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" name="Google Shape;748;p48"/>
            <p:cNvSpPr txBox="1"/>
            <p:nvPr/>
          </p:nvSpPr>
          <p:spPr>
            <a:xfrm>
              <a:off x="17258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자재 입고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49" name="Google Shape;749;p48"/>
            <p:cNvSpPr txBox="1"/>
            <p:nvPr/>
          </p:nvSpPr>
          <p:spPr>
            <a:xfrm>
              <a:off x="1573500" y="4921650"/>
              <a:ext cx="20151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태양광 모듈, 인버터, 구조물 등 주요 자재 현장입고 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1-2일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15735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51" name="Google Shape;751;p48"/>
          <p:cNvGrpSpPr/>
          <p:nvPr/>
        </p:nvGrpSpPr>
        <p:grpSpPr>
          <a:xfrm>
            <a:off x="5037213" y="1532275"/>
            <a:ext cx="2117700" cy="4665925"/>
            <a:chOff x="4590200" y="1760875"/>
            <a:chExt cx="2117700" cy="4665925"/>
          </a:xfrm>
        </p:grpSpPr>
        <p:sp>
          <p:nvSpPr>
            <p:cNvPr id="752" name="Google Shape;752;p48"/>
            <p:cNvSpPr/>
            <p:nvPr/>
          </p:nvSpPr>
          <p:spPr>
            <a:xfrm rot="10795212">
              <a:off x="5541200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3" name="Google Shape;753;p48"/>
            <p:cNvSpPr/>
            <p:nvPr/>
          </p:nvSpPr>
          <p:spPr>
            <a:xfrm>
              <a:off x="5386550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4" name="Google Shape;754;p48"/>
            <p:cNvSpPr/>
            <p:nvPr/>
          </p:nvSpPr>
          <p:spPr>
            <a:xfrm>
              <a:off x="4590200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5" name="Google Shape;755;p48"/>
            <p:cNvSpPr txBox="1"/>
            <p:nvPr/>
          </p:nvSpPr>
          <p:spPr>
            <a:xfrm>
              <a:off x="4845074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자재 양중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56" name="Google Shape;756;p48"/>
            <p:cNvSpPr txBox="1"/>
            <p:nvPr/>
          </p:nvSpPr>
          <p:spPr>
            <a:xfrm>
              <a:off x="4692675" y="4921650"/>
              <a:ext cx="20151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 입고된 자재 각 지붕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혹은 옥상에 타워크레인 활용하여 양중 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2-3일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4692675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58" name="Google Shape;758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17497" y="1616113"/>
            <a:ext cx="357025" cy="3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8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세부 공정 계획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760" name="Google Shape;760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0325" y="2572100"/>
            <a:ext cx="2117827" cy="1588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1" name="Google Shape;761;p48"/>
          <p:cNvGrpSpPr/>
          <p:nvPr/>
        </p:nvGrpSpPr>
        <p:grpSpPr>
          <a:xfrm>
            <a:off x="8450438" y="1532275"/>
            <a:ext cx="2117700" cy="4665925"/>
            <a:chOff x="7821225" y="1760875"/>
            <a:chExt cx="2117700" cy="4665925"/>
          </a:xfrm>
        </p:grpSpPr>
        <p:sp>
          <p:nvSpPr>
            <p:cNvPr id="762" name="Google Shape;762;p48"/>
            <p:cNvSpPr/>
            <p:nvPr/>
          </p:nvSpPr>
          <p:spPr>
            <a:xfrm rot="10795212">
              <a:off x="87722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86175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78212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5" name="Google Shape;765;p48"/>
            <p:cNvSpPr txBox="1"/>
            <p:nvPr/>
          </p:nvSpPr>
          <p:spPr>
            <a:xfrm>
              <a:off x="80760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기초 공사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66" name="Google Shape;766;p48"/>
            <p:cNvSpPr txBox="1"/>
            <p:nvPr/>
          </p:nvSpPr>
          <p:spPr>
            <a:xfrm>
              <a:off x="7923700" y="4921650"/>
              <a:ext cx="2015100" cy="133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슬라브 지붕 : 몰탈 기초 혹은 콘크리트 기초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박공 지붕 : Rail 기초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지붕 형태에 맞게 기초 공사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10일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79237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68" name="Google Shape;768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48350" y="1633693"/>
            <a:ext cx="321900" cy="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8"/>
          <p:cNvSpPr/>
          <p:nvPr/>
        </p:nvSpPr>
        <p:spPr>
          <a:xfrm>
            <a:off x="162387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0" name="Google Shape;770;p48"/>
          <p:cNvSpPr/>
          <p:nvPr/>
        </p:nvSpPr>
        <p:spPr>
          <a:xfrm>
            <a:off x="503722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1" name="Google Shape;771;p48"/>
          <p:cNvSpPr/>
          <p:nvPr/>
        </p:nvSpPr>
        <p:spPr>
          <a:xfrm>
            <a:off x="8450450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5" y="2294276"/>
            <a:ext cx="12192000" cy="4071498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9"/>
          <p:cNvSpPr/>
          <p:nvPr/>
        </p:nvSpPr>
        <p:spPr>
          <a:xfrm>
            <a:off x="0" y="1774975"/>
            <a:ext cx="12192000" cy="3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79" name="Google Shape;77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098" y="2572100"/>
            <a:ext cx="2117826" cy="15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9"/>
          <p:cNvPicPr preferRelativeResize="0"/>
          <p:nvPr/>
        </p:nvPicPr>
        <p:blipFill rotWithShape="1">
          <a:blip r:embed="rId5">
            <a:alphaModFix/>
          </a:blip>
          <a:srcRect b="0" l="0" r="369" t="0"/>
          <a:stretch/>
        </p:blipFill>
        <p:spPr>
          <a:xfrm>
            <a:off x="1623875" y="2572100"/>
            <a:ext cx="2117827" cy="159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2" name="Google Shape;782;p49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49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4" name="Google Shape;784;p49"/>
          <p:cNvSpPr txBox="1"/>
          <p:nvPr/>
        </p:nvSpPr>
        <p:spPr>
          <a:xfrm>
            <a:off x="521223" y="857400"/>
            <a:ext cx="6519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세부 공정 계획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6" name="Google Shape;786;p49"/>
          <p:cNvGrpSpPr/>
          <p:nvPr/>
        </p:nvGrpSpPr>
        <p:grpSpPr>
          <a:xfrm>
            <a:off x="1623988" y="1532275"/>
            <a:ext cx="2117700" cy="4665925"/>
            <a:chOff x="1471025" y="1760875"/>
            <a:chExt cx="2117700" cy="4665925"/>
          </a:xfrm>
        </p:grpSpPr>
        <p:sp>
          <p:nvSpPr>
            <p:cNvPr id="787" name="Google Shape;787;p49"/>
            <p:cNvSpPr/>
            <p:nvPr/>
          </p:nvSpPr>
          <p:spPr>
            <a:xfrm rot="10795212">
              <a:off x="24220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8" name="Google Shape;788;p49"/>
            <p:cNvSpPr/>
            <p:nvPr/>
          </p:nvSpPr>
          <p:spPr>
            <a:xfrm>
              <a:off x="22673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9" name="Google Shape;789;p49"/>
            <p:cNvSpPr/>
            <p:nvPr/>
          </p:nvSpPr>
          <p:spPr>
            <a:xfrm>
              <a:off x="14710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0" name="Google Shape;790;p49"/>
            <p:cNvSpPr txBox="1"/>
            <p:nvPr/>
          </p:nvSpPr>
          <p:spPr>
            <a:xfrm>
              <a:off x="1725887" y="4526425"/>
              <a:ext cx="1766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상부 구조물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91" name="Google Shape;791;p49"/>
            <p:cNvSpPr txBox="1"/>
            <p:nvPr/>
          </p:nvSpPr>
          <p:spPr>
            <a:xfrm>
              <a:off x="1573500" y="4921650"/>
              <a:ext cx="20151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결합 플레이트 및 화스너 등 활용 상부 구조물 설치 및 태양광 모듈 설치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14일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92" name="Google Shape;792;p49"/>
            <p:cNvSpPr/>
            <p:nvPr/>
          </p:nvSpPr>
          <p:spPr>
            <a:xfrm>
              <a:off x="15735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93" name="Google Shape;793;p49"/>
          <p:cNvGrpSpPr/>
          <p:nvPr/>
        </p:nvGrpSpPr>
        <p:grpSpPr>
          <a:xfrm>
            <a:off x="5037213" y="1532275"/>
            <a:ext cx="2117700" cy="4665925"/>
            <a:chOff x="4590200" y="1760875"/>
            <a:chExt cx="2117700" cy="4665925"/>
          </a:xfrm>
        </p:grpSpPr>
        <p:sp>
          <p:nvSpPr>
            <p:cNvPr id="794" name="Google Shape;794;p49"/>
            <p:cNvSpPr/>
            <p:nvPr/>
          </p:nvSpPr>
          <p:spPr>
            <a:xfrm rot="10795212">
              <a:off x="5541200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5" name="Google Shape;795;p49"/>
            <p:cNvSpPr/>
            <p:nvPr/>
          </p:nvSpPr>
          <p:spPr>
            <a:xfrm>
              <a:off x="5386550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6" name="Google Shape;796;p49"/>
            <p:cNvSpPr/>
            <p:nvPr/>
          </p:nvSpPr>
          <p:spPr>
            <a:xfrm>
              <a:off x="4590200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7" name="Google Shape;797;p49"/>
            <p:cNvSpPr txBox="1"/>
            <p:nvPr/>
          </p:nvSpPr>
          <p:spPr>
            <a:xfrm>
              <a:off x="4845074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안전 장치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98" name="Google Shape;798;p49"/>
            <p:cNvSpPr txBox="1"/>
            <p:nvPr/>
          </p:nvSpPr>
          <p:spPr>
            <a:xfrm>
              <a:off x="4692675" y="4921650"/>
              <a:ext cx="20151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와이어 클립, 주물턴버클 등 활용하여 안전와이어 설치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3-4일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99" name="Google Shape;799;p49"/>
            <p:cNvSpPr/>
            <p:nvPr/>
          </p:nvSpPr>
          <p:spPr>
            <a:xfrm>
              <a:off x="4692675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800" name="Google Shape;800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4275" y="1616127"/>
            <a:ext cx="357025" cy="3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17563" y="1616113"/>
            <a:ext cx="357025" cy="3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50450" y="2572100"/>
            <a:ext cx="2117826" cy="158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3" name="Google Shape;803;p49"/>
          <p:cNvGrpSpPr/>
          <p:nvPr/>
        </p:nvGrpSpPr>
        <p:grpSpPr>
          <a:xfrm>
            <a:off x="8450438" y="1532275"/>
            <a:ext cx="2117700" cy="4665925"/>
            <a:chOff x="7821225" y="1760875"/>
            <a:chExt cx="2117700" cy="4665925"/>
          </a:xfrm>
        </p:grpSpPr>
        <p:sp>
          <p:nvSpPr>
            <p:cNvPr id="804" name="Google Shape;804;p49"/>
            <p:cNvSpPr/>
            <p:nvPr/>
          </p:nvSpPr>
          <p:spPr>
            <a:xfrm rot="10795212">
              <a:off x="87722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5" name="Google Shape;805;p49"/>
            <p:cNvSpPr/>
            <p:nvPr/>
          </p:nvSpPr>
          <p:spPr>
            <a:xfrm>
              <a:off x="86175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6" name="Google Shape;806;p49"/>
            <p:cNvSpPr/>
            <p:nvPr/>
          </p:nvSpPr>
          <p:spPr>
            <a:xfrm>
              <a:off x="78212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7" name="Google Shape;807;p49"/>
            <p:cNvSpPr txBox="1"/>
            <p:nvPr/>
          </p:nvSpPr>
          <p:spPr>
            <a:xfrm>
              <a:off x="80760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전기 공사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08" name="Google Shape;808;p49"/>
            <p:cNvSpPr txBox="1"/>
            <p:nvPr/>
          </p:nvSpPr>
          <p:spPr>
            <a:xfrm>
              <a:off x="7923700" y="4921650"/>
              <a:ext cx="2015100" cy="115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DC/AC 케이블 포설 및 결선, 케이블 트레이 설치, 어레이 결선, </a:t>
              </a: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접지 본딩 및 바인딩 공사, 인버터 설치 등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30일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09" name="Google Shape;809;p49"/>
            <p:cNvSpPr/>
            <p:nvPr/>
          </p:nvSpPr>
          <p:spPr>
            <a:xfrm>
              <a:off x="79237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810" name="Google Shape;81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44650" y="1616113"/>
            <a:ext cx="357025" cy="3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9"/>
          <p:cNvSpPr/>
          <p:nvPr/>
        </p:nvSpPr>
        <p:spPr>
          <a:xfrm>
            <a:off x="162387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503722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3" name="Google Shape;813;p49"/>
          <p:cNvSpPr/>
          <p:nvPr/>
        </p:nvSpPr>
        <p:spPr>
          <a:xfrm>
            <a:off x="8450450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5" y="2294276"/>
            <a:ext cx="12192000" cy="407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098" y="2572100"/>
            <a:ext cx="2117826" cy="15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0"/>
          <p:cNvPicPr preferRelativeResize="0"/>
          <p:nvPr/>
        </p:nvPicPr>
        <p:blipFill rotWithShape="1">
          <a:blip r:embed="rId5">
            <a:alphaModFix/>
          </a:blip>
          <a:srcRect b="0" l="0" r="369" t="0"/>
          <a:stretch/>
        </p:blipFill>
        <p:spPr>
          <a:xfrm>
            <a:off x="1623875" y="2572100"/>
            <a:ext cx="2117827" cy="159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3" name="Google Shape;823;p50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50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3-1. 사업 추진일정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5" name="Google Shape;825;p50"/>
          <p:cNvSpPr txBox="1"/>
          <p:nvPr/>
        </p:nvSpPr>
        <p:spPr>
          <a:xfrm>
            <a:off x="521223" y="857400"/>
            <a:ext cx="6519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세부 공정 계획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6" name="Google Shape;826;p50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0"/>
          <p:cNvSpPr/>
          <p:nvPr/>
        </p:nvSpPr>
        <p:spPr>
          <a:xfrm>
            <a:off x="0" y="1774975"/>
            <a:ext cx="10955400" cy="3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28" name="Google Shape;828;p50"/>
          <p:cNvGrpSpPr/>
          <p:nvPr/>
        </p:nvGrpSpPr>
        <p:grpSpPr>
          <a:xfrm>
            <a:off x="1623988" y="1532275"/>
            <a:ext cx="2117700" cy="4665925"/>
            <a:chOff x="1471025" y="1760875"/>
            <a:chExt cx="2117700" cy="4665925"/>
          </a:xfrm>
        </p:grpSpPr>
        <p:sp>
          <p:nvSpPr>
            <p:cNvPr id="829" name="Google Shape;829;p50"/>
            <p:cNvSpPr/>
            <p:nvPr/>
          </p:nvSpPr>
          <p:spPr>
            <a:xfrm rot="10795212">
              <a:off x="24220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0" name="Google Shape;830;p50"/>
            <p:cNvSpPr/>
            <p:nvPr/>
          </p:nvSpPr>
          <p:spPr>
            <a:xfrm>
              <a:off x="22673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14710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2" name="Google Shape;832;p50"/>
            <p:cNvSpPr txBox="1"/>
            <p:nvPr/>
          </p:nvSpPr>
          <p:spPr>
            <a:xfrm>
              <a:off x="1725887" y="4526425"/>
              <a:ext cx="1766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수배전시설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33" name="Google Shape;833;p50"/>
            <p:cNvSpPr txBox="1"/>
            <p:nvPr/>
          </p:nvSpPr>
          <p:spPr>
            <a:xfrm>
              <a:off x="1573500" y="4921650"/>
              <a:ext cx="20151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기초 패드 설치 및 수배전시설 설치, 기존 전기실과 접속 및 비상용발전기 Interlock 구성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7일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5735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5037213" y="1532275"/>
            <a:ext cx="2117700" cy="4665925"/>
            <a:chOff x="4590200" y="1760875"/>
            <a:chExt cx="2117700" cy="4665925"/>
          </a:xfrm>
        </p:grpSpPr>
        <p:sp>
          <p:nvSpPr>
            <p:cNvPr id="836" name="Google Shape;836;p50"/>
            <p:cNvSpPr/>
            <p:nvPr/>
          </p:nvSpPr>
          <p:spPr>
            <a:xfrm rot="10795212">
              <a:off x="5541200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7" name="Google Shape;837;p50"/>
            <p:cNvSpPr/>
            <p:nvPr/>
          </p:nvSpPr>
          <p:spPr>
            <a:xfrm>
              <a:off x="5386550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8" name="Google Shape;838;p50"/>
            <p:cNvSpPr/>
            <p:nvPr/>
          </p:nvSpPr>
          <p:spPr>
            <a:xfrm>
              <a:off x="4590200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9" name="Google Shape;839;p50"/>
            <p:cNvSpPr txBox="1"/>
            <p:nvPr/>
          </p:nvSpPr>
          <p:spPr>
            <a:xfrm>
              <a:off x="4845074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휀스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40" name="Google Shape;840;p50"/>
            <p:cNvSpPr txBox="1"/>
            <p:nvPr/>
          </p:nvSpPr>
          <p:spPr>
            <a:xfrm>
              <a:off x="4692675" y="4921650"/>
              <a:ext cx="20151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특고압 위험 표지판 및 접근 금지를 위한 휀스 설치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5일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41" name="Google Shape;841;p50"/>
            <p:cNvSpPr/>
            <p:nvPr/>
          </p:nvSpPr>
          <p:spPr>
            <a:xfrm>
              <a:off x="4692675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842" name="Google Shape;84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0450" y="2572100"/>
            <a:ext cx="2117826" cy="158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3" name="Google Shape;843;p50"/>
          <p:cNvGrpSpPr/>
          <p:nvPr/>
        </p:nvGrpSpPr>
        <p:grpSpPr>
          <a:xfrm>
            <a:off x="8450438" y="1532275"/>
            <a:ext cx="2117700" cy="4665925"/>
            <a:chOff x="7821225" y="1760875"/>
            <a:chExt cx="2117700" cy="4665925"/>
          </a:xfrm>
        </p:grpSpPr>
        <p:sp>
          <p:nvSpPr>
            <p:cNvPr id="844" name="Google Shape;844;p50"/>
            <p:cNvSpPr/>
            <p:nvPr/>
          </p:nvSpPr>
          <p:spPr>
            <a:xfrm rot="10795212">
              <a:off x="8772225" y="2459917"/>
              <a:ext cx="215400" cy="1863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rgbClr val="0A3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8617575" y="1760875"/>
              <a:ext cx="524700" cy="524700"/>
            </a:xfrm>
            <a:prstGeom prst="ellipse">
              <a:avLst/>
            </a:prstGeom>
            <a:solidFill>
              <a:srgbClr val="0A3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6" name="Google Shape;846;p50"/>
            <p:cNvSpPr/>
            <p:nvPr/>
          </p:nvSpPr>
          <p:spPr>
            <a:xfrm>
              <a:off x="7821225" y="4391600"/>
              <a:ext cx="2117700" cy="203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7" name="Google Shape;847;p50"/>
            <p:cNvSpPr txBox="1"/>
            <p:nvPr/>
          </p:nvSpPr>
          <p:spPr>
            <a:xfrm>
              <a:off x="8076099" y="4526425"/>
              <a:ext cx="1307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latin typeface="Noto Sans KR"/>
                  <a:ea typeface="Noto Sans KR"/>
                  <a:cs typeface="Noto Sans KR"/>
                  <a:sym typeface="Noto Sans KR"/>
                </a:rPr>
                <a:t>모니터링 설치</a:t>
              </a:r>
              <a:endParaRPr b="1" i="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48" name="Google Shape;848;p50"/>
            <p:cNvSpPr txBox="1"/>
            <p:nvPr/>
          </p:nvSpPr>
          <p:spPr>
            <a:xfrm>
              <a:off x="7923700" y="4921650"/>
              <a:ext cx="20151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25" lIns="22225" spcFirstLastPara="1" rIns="22225" wrap="square" tIns="222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통신설 포설 및 RTU 등 모니터링 장비 설치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소요 일수 : 약 3일</a:t>
              </a:r>
              <a:endParaRPr sz="12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49" name="Google Shape;849;p50"/>
            <p:cNvSpPr/>
            <p:nvPr/>
          </p:nvSpPr>
          <p:spPr>
            <a:xfrm>
              <a:off x="7923700" y="4598275"/>
              <a:ext cx="116700" cy="1167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850" name="Google Shape;850;p50"/>
          <p:cNvPicPr preferRelativeResize="0"/>
          <p:nvPr/>
        </p:nvPicPr>
        <p:blipFill rotWithShape="1">
          <a:blip r:embed="rId8">
            <a:alphaModFix/>
          </a:blip>
          <a:srcRect b="0" l="16654" r="8361" t="0"/>
          <a:stretch/>
        </p:blipFill>
        <p:spPr>
          <a:xfrm>
            <a:off x="1624000" y="2572100"/>
            <a:ext cx="2117825" cy="158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04388" y="1616102"/>
            <a:ext cx="357025" cy="35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50"/>
          <p:cNvPicPr preferRelativeResize="0"/>
          <p:nvPr/>
        </p:nvPicPr>
        <p:blipFill rotWithShape="1">
          <a:blip r:embed="rId10">
            <a:alphaModFix/>
          </a:blip>
          <a:srcRect b="15017" l="0" r="0" t="28527"/>
          <a:stretch/>
        </p:blipFill>
        <p:spPr>
          <a:xfrm>
            <a:off x="5037225" y="2572100"/>
            <a:ext cx="2117699" cy="1594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50"/>
          <p:cNvPicPr preferRelativeResize="0"/>
          <p:nvPr/>
        </p:nvPicPr>
        <p:blipFill rotWithShape="1">
          <a:blip r:embed="rId11">
            <a:alphaModFix/>
          </a:blip>
          <a:srcRect b="16453" l="20395" r="34132" t="9703"/>
          <a:stretch/>
        </p:blipFill>
        <p:spPr>
          <a:xfrm>
            <a:off x="5037225" y="2572100"/>
            <a:ext cx="2117700" cy="15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21013" y="1619575"/>
            <a:ext cx="350125" cy="3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334288" y="1619563"/>
            <a:ext cx="350125" cy="3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0"/>
          <p:cNvPicPr preferRelativeResize="0"/>
          <p:nvPr/>
        </p:nvPicPr>
        <p:blipFill rotWithShape="1">
          <a:blip r:embed="rId14">
            <a:alphaModFix/>
          </a:blip>
          <a:srcRect b="0" l="478" r="41278" t="0"/>
          <a:stretch/>
        </p:blipFill>
        <p:spPr>
          <a:xfrm>
            <a:off x="8450200" y="2572100"/>
            <a:ext cx="2117826" cy="15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0"/>
          <p:cNvSpPr/>
          <p:nvPr/>
        </p:nvSpPr>
        <p:spPr>
          <a:xfrm>
            <a:off x="10955550" y="1681375"/>
            <a:ext cx="226500" cy="2265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8" name="Google Shape;858;p50"/>
          <p:cNvSpPr/>
          <p:nvPr/>
        </p:nvSpPr>
        <p:spPr>
          <a:xfrm>
            <a:off x="162387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9" name="Google Shape;859;p50"/>
          <p:cNvSpPr/>
          <p:nvPr/>
        </p:nvSpPr>
        <p:spPr>
          <a:xfrm>
            <a:off x="5037225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0" name="Google Shape;860;p50"/>
          <p:cNvSpPr/>
          <p:nvPr/>
        </p:nvSpPr>
        <p:spPr>
          <a:xfrm>
            <a:off x="8450450" y="6158900"/>
            <a:ext cx="2117700" cy="393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, 스크린샷, 일렉트릭 블루, 패브릭이(가) 표시된 사진&#10;&#10;AI가 생성한 콘텐츠는 부정확할 수 있습니다." id="866" name="Google Shape;86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51"/>
          <p:cNvSpPr txBox="1"/>
          <p:nvPr/>
        </p:nvSpPr>
        <p:spPr>
          <a:xfrm>
            <a:off x="567819" y="3059688"/>
            <a:ext cx="636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ko-KR" sz="3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4. 사후관리계획</a:t>
            </a:r>
            <a:endParaRPr i="0" sz="31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폰트, 그래픽, 그래픽 디자인, 텍스트이(가) 표시된 사진&#10;&#10;AI가 생성한 콘텐츠는 부정확할 수 있습니다." id="868" name="Google Shape;86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119" y="391740"/>
            <a:ext cx="1059944" cy="2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51"/>
          <p:cNvSpPr txBox="1"/>
          <p:nvPr>
            <p:ph idx="12" type="sldNum"/>
          </p:nvPr>
        </p:nvSpPr>
        <p:spPr>
          <a:xfrm>
            <a:off x="11480800" y="8475133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5" name="Google Shape;875;p52"/>
          <p:cNvCxnSpPr/>
          <p:nvPr/>
        </p:nvCxnSpPr>
        <p:spPr>
          <a:xfrm>
            <a:off x="2357279" y="5898360"/>
            <a:ext cx="251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6" name="Google Shape;8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52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8" name="Google Shape;878;p52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9" name="Google Shape;879;p52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4-1. 관리운영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0" name="Google Shape;880;p52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관리운영 조직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81" name="Google Shape;881;p52"/>
          <p:cNvCxnSpPr/>
          <p:nvPr/>
        </p:nvCxnSpPr>
        <p:spPr>
          <a:xfrm>
            <a:off x="2336345" y="4893232"/>
            <a:ext cx="251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52"/>
          <p:cNvCxnSpPr/>
          <p:nvPr/>
        </p:nvCxnSpPr>
        <p:spPr>
          <a:xfrm>
            <a:off x="2551604" y="5392760"/>
            <a:ext cx="251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52"/>
          <p:cNvCxnSpPr>
            <a:stCxn id="884" idx="1"/>
          </p:cNvCxnSpPr>
          <p:nvPr/>
        </p:nvCxnSpPr>
        <p:spPr>
          <a:xfrm rot="10800000">
            <a:off x="3713358" y="2280785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52"/>
          <p:cNvCxnSpPr/>
          <p:nvPr/>
        </p:nvCxnSpPr>
        <p:spPr>
          <a:xfrm>
            <a:off x="2596465" y="2904007"/>
            <a:ext cx="111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52"/>
          <p:cNvCxnSpPr/>
          <p:nvPr/>
        </p:nvCxnSpPr>
        <p:spPr>
          <a:xfrm>
            <a:off x="3434067" y="2774816"/>
            <a:ext cx="7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52"/>
          <p:cNvCxnSpPr/>
          <p:nvPr/>
        </p:nvCxnSpPr>
        <p:spPr>
          <a:xfrm>
            <a:off x="3619315" y="3280229"/>
            <a:ext cx="7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52"/>
          <p:cNvCxnSpPr/>
          <p:nvPr/>
        </p:nvCxnSpPr>
        <p:spPr>
          <a:xfrm>
            <a:off x="2325940" y="3763509"/>
            <a:ext cx="251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2"/>
          <p:cNvCxnSpPr/>
          <p:nvPr/>
        </p:nvCxnSpPr>
        <p:spPr>
          <a:xfrm>
            <a:off x="2541199" y="4252569"/>
            <a:ext cx="251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52"/>
          <p:cNvSpPr/>
          <p:nvPr/>
        </p:nvSpPr>
        <p:spPr>
          <a:xfrm>
            <a:off x="1033315" y="3715444"/>
            <a:ext cx="468300" cy="117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1" name="Google Shape;891;p52"/>
          <p:cNvSpPr/>
          <p:nvPr/>
        </p:nvSpPr>
        <p:spPr>
          <a:xfrm>
            <a:off x="2325938" y="2058843"/>
            <a:ext cx="468300" cy="2403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사업전략본부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2" name="Google Shape;892;p52"/>
          <p:cNvSpPr/>
          <p:nvPr/>
        </p:nvSpPr>
        <p:spPr>
          <a:xfrm>
            <a:off x="3242563" y="2058843"/>
            <a:ext cx="468300" cy="1456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V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P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P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사업실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893" name="Google Shape;893;p52"/>
          <p:cNvGrpSpPr/>
          <p:nvPr/>
        </p:nvGrpSpPr>
        <p:grpSpPr>
          <a:xfrm>
            <a:off x="4146858" y="2058843"/>
            <a:ext cx="6348281" cy="437942"/>
            <a:chOff x="4366945" y="2964450"/>
            <a:chExt cx="6348281" cy="437942"/>
          </a:xfrm>
        </p:grpSpPr>
        <p:sp>
          <p:nvSpPr>
            <p:cNvPr id="884" name="Google Shape;884;p52"/>
            <p:cNvSpPr/>
            <p:nvPr/>
          </p:nvSpPr>
          <p:spPr>
            <a:xfrm>
              <a:off x="4366945" y="2970392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분산에너지팀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94" name="Google Shape;894;p52"/>
            <p:cNvSpPr/>
            <p:nvPr/>
          </p:nvSpPr>
          <p:spPr>
            <a:xfrm>
              <a:off x="6121026" y="2964450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RE100 및 분산에너지 사업 담당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895" name="Google Shape;895;p52"/>
          <p:cNvGrpSpPr/>
          <p:nvPr/>
        </p:nvGrpSpPr>
        <p:grpSpPr>
          <a:xfrm>
            <a:off x="4146870" y="2551646"/>
            <a:ext cx="6348271" cy="437994"/>
            <a:chOff x="4366957" y="3458429"/>
            <a:chExt cx="6348271" cy="437994"/>
          </a:xfrm>
        </p:grpSpPr>
        <p:sp>
          <p:nvSpPr>
            <p:cNvPr id="896" name="Google Shape;896;p52"/>
            <p:cNvSpPr/>
            <p:nvPr/>
          </p:nvSpPr>
          <p:spPr>
            <a:xfrm>
              <a:off x="4366957" y="3464423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VPP팀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6121028" y="3458429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발전소 착공부터 준공까지 시공 CM 및 안전보건관리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898" name="Google Shape;898;p52"/>
          <p:cNvGrpSpPr/>
          <p:nvPr/>
        </p:nvGrpSpPr>
        <p:grpSpPr>
          <a:xfrm>
            <a:off x="4146853" y="3044501"/>
            <a:ext cx="6348286" cy="438046"/>
            <a:chOff x="4366940" y="3963789"/>
            <a:chExt cx="6348286" cy="438046"/>
          </a:xfrm>
        </p:grpSpPr>
        <p:sp>
          <p:nvSpPr>
            <p:cNvPr id="899" name="Google Shape;899;p52"/>
            <p:cNvSpPr/>
            <p:nvPr/>
          </p:nvSpPr>
          <p:spPr>
            <a:xfrm>
              <a:off x="4366940" y="3969835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기술해킹팀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00" name="Google Shape;900;p52"/>
            <p:cNvSpPr/>
            <p:nvPr/>
          </p:nvSpPr>
          <p:spPr>
            <a:xfrm>
              <a:off x="6121026" y="3963789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발전소 설계 및 시공·유지보수 전략 수립  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01" name="Google Shape;901;p52"/>
          <p:cNvGrpSpPr/>
          <p:nvPr/>
        </p:nvGrpSpPr>
        <p:grpSpPr>
          <a:xfrm>
            <a:off x="4146853" y="3537408"/>
            <a:ext cx="6348286" cy="438099"/>
            <a:chOff x="4366940" y="4447017"/>
            <a:chExt cx="6348286" cy="438099"/>
          </a:xfrm>
        </p:grpSpPr>
        <p:sp>
          <p:nvSpPr>
            <p:cNvPr id="902" name="Google Shape;902;p52"/>
            <p:cNvSpPr/>
            <p:nvPr/>
          </p:nvSpPr>
          <p:spPr>
            <a:xfrm>
              <a:off x="4366940" y="4453115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계약운영팀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6121026" y="4447017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발전소 구축 및 사업 진행 중 발생되는 계약 관리·체결 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04" name="Google Shape;904;p52"/>
          <p:cNvGrpSpPr/>
          <p:nvPr/>
        </p:nvGrpSpPr>
        <p:grpSpPr>
          <a:xfrm>
            <a:off x="4157457" y="4030368"/>
            <a:ext cx="6346715" cy="438201"/>
            <a:chOff x="4377544" y="4935975"/>
            <a:chExt cx="6346715" cy="438201"/>
          </a:xfrm>
        </p:grpSpPr>
        <p:sp>
          <p:nvSpPr>
            <p:cNvPr id="905" name="Google Shape;905;p52"/>
            <p:cNvSpPr/>
            <p:nvPr/>
          </p:nvSpPr>
          <p:spPr>
            <a:xfrm>
              <a:off x="4377544" y="4942176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발전운영팀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06" name="Google Shape;906;p52"/>
            <p:cNvSpPr/>
            <p:nvPr/>
          </p:nvSpPr>
          <p:spPr>
            <a:xfrm>
              <a:off x="6130059" y="4935975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발전소 모니터링 및 사고·장애대응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907" name="Google Shape;907;p52"/>
          <p:cNvSpPr/>
          <p:nvPr/>
        </p:nvSpPr>
        <p:spPr>
          <a:xfrm>
            <a:off x="2325950" y="4633486"/>
            <a:ext cx="468300" cy="15228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플랫폼개발본부</a:t>
            </a:r>
            <a:endParaRPr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908" name="Google Shape;908;p52"/>
          <p:cNvGrpSpPr/>
          <p:nvPr/>
        </p:nvGrpSpPr>
        <p:grpSpPr>
          <a:xfrm>
            <a:off x="4157257" y="4671134"/>
            <a:ext cx="6348286" cy="438099"/>
            <a:chOff x="4377345" y="5576740"/>
            <a:chExt cx="6348286" cy="438099"/>
          </a:xfrm>
        </p:grpSpPr>
        <p:sp>
          <p:nvSpPr>
            <p:cNvPr id="909" name="Google Shape;909;p52"/>
            <p:cNvSpPr/>
            <p:nvPr/>
          </p:nvSpPr>
          <p:spPr>
            <a:xfrm>
              <a:off x="4377345" y="5582839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인공지능팀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0" name="Google Shape;910;p52"/>
            <p:cNvSpPr/>
            <p:nvPr/>
          </p:nvSpPr>
          <p:spPr>
            <a:xfrm>
              <a:off x="6131431" y="5576740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분산에너지 시장 대응을 위한 데이터 기반 인공지능 기술개발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11" name="Google Shape;911;p52"/>
          <p:cNvGrpSpPr/>
          <p:nvPr/>
        </p:nvGrpSpPr>
        <p:grpSpPr>
          <a:xfrm>
            <a:off x="4167861" y="5170559"/>
            <a:ext cx="6346715" cy="438201"/>
            <a:chOff x="4387949" y="6159902"/>
            <a:chExt cx="6346715" cy="438201"/>
          </a:xfrm>
        </p:grpSpPr>
        <p:sp>
          <p:nvSpPr>
            <p:cNvPr id="912" name="Google Shape;912;p52"/>
            <p:cNvSpPr/>
            <p:nvPr/>
          </p:nvSpPr>
          <p:spPr>
            <a:xfrm>
              <a:off x="4387949" y="6166102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더쉐어개발팀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3" name="Google Shape;913;p52"/>
            <p:cNvSpPr/>
            <p:nvPr/>
          </p:nvSpPr>
          <p:spPr>
            <a:xfrm>
              <a:off x="6140464" y="6159902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분산에너지 자원 엣지컴퓨팅 및 VPP 클라우드 플랫폼 개발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14" name="Google Shape;914;p52"/>
          <p:cNvGrpSpPr/>
          <p:nvPr/>
        </p:nvGrpSpPr>
        <p:grpSpPr>
          <a:xfrm>
            <a:off x="4178191" y="5676261"/>
            <a:ext cx="6348286" cy="438099"/>
            <a:chOff x="4398279" y="6749340"/>
            <a:chExt cx="6348286" cy="438099"/>
          </a:xfrm>
        </p:grpSpPr>
        <p:sp>
          <p:nvSpPr>
            <p:cNvPr id="915" name="Google Shape;915;p52"/>
            <p:cNvSpPr/>
            <p:nvPr/>
          </p:nvSpPr>
          <p:spPr>
            <a:xfrm>
              <a:off x="4398279" y="6755439"/>
              <a:ext cx="1430400" cy="432000"/>
            </a:xfrm>
            <a:prstGeom prst="roundRect">
              <a:avLst>
                <a:gd fmla="val 16667" name="adj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모햇개발팀</a:t>
              </a:r>
              <a:endParaRPr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6" name="Google Shape;916;p52"/>
            <p:cNvSpPr/>
            <p:nvPr/>
          </p:nvSpPr>
          <p:spPr>
            <a:xfrm>
              <a:off x="6152365" y="6749340"/>
              <a:ext cx="4594200" cy="432000"/>
            </a:xfrm>
            <a:prstGeom prst="roundRect">
              <a:avLst>
                <a:gd fmla="val 16667" name="adj"/>
              </a:avLst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발전소 유지보수 서비스 플랫폼 및 관리 시스템 개발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cxnSp>
        <p:nvCxnSpPr>
          <p:cNvPr id="917" name="Google Shape;917;p52"/>
          <p:cNvCxnSpPr>
            <a:stCxn id="891" idx="1"/>
            <a:endCxn id="907" idx="1"/>
          </p:cNvCxnSpPr>
          <p:nvPr/>
        </p:nvCxnSpPr>
        <p:spPr>
          <a:xfrm>
            <a:off x="2325938" y="3260643"/>
            <a:ext cx="600" cy="2134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2"/>
          <p:cNvCxnSpPr>
            <a:stCxn id="890" idx="3"/>
          </p:cNvCxnSpPr>
          <p:nvPr/>
        </p:nvCxnSpPr>
        <p:spPr>
          <a:xfrm>
            <a:off x="1501615" y="4304344"/>
            <a:ext cx="58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52"/>
          <p:cNvSpPr/>
          <p:nvPr/>
        </p:nvSpPr>
        <p:spPr>
          <a:xfrm>
            <a:off x="3940100" y="2989650"/>
            <a:ext cx="7422600" cy="3251700"/>
          </a:xfrm>
          <a:prstGeom prst="roundRect">
            <a:avLst>
              <a:gd fmla="val 7454" name="adj"/>
            </a:avLst>
          </a:prstGeom>
          <a:solidFill>
            <a:srgbClr val="FFE599">
              <a:alpha val="12660"/>
            </a:srgbClr>
          </a:solidFill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0" name="Google Shape;920;p52"/>
          <p:cNvSpPr txBox="1"/>
          <p:nvPr/>
        </p:nvSpPr>
        <p:spPr>
          <a:xfrm>
            <a:off x="10781175" y="4369106"/>
            <a:ext cx="33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관리운영조직</a:t>
            </a:r>
            <a:endParaRPr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1" name="Google Shape;921;p52"/>
          <p:cNvSpPr/>
          <p:nvPr/>
        </p:nvSpPr>
        <p:spPr>
          <a:xfrm>
            <a:off x="878175" y="1289325"/>
            <a:ext cx="10233300" cy="13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발전소 모니터링 및 사고·장애대응 전담 부서 보유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지속적 서비스 플랫폼 개발 및 유지보수를 통한 실시간 발전소 관리 대응 체계 확립 </a:t>
            </a:r>
            <a:endParaRPr i="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53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9" name="Google Shape;929;p53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53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-1. 관리운영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931" name="Google Shape;931;p53"/>
          <p:cNvGraphicFramePr/>
          <p:nvPr/>
        </p:nvGraphicFramePr>
        <p:xfrm>
          <a:off x="8645386" y="2507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2245200"/>
              </a:tblGrid>
              <a:tr h="127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66"/>
                        </a:buClr>
                        <a:buSzPts val="1200"/>
                        <a:buFont typeface="Gulimche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2" name="Google Shape;932;p53"/>
          <p:cNvGraphicFramePr/>
          <p:nvPr/>
        </p:nvGraphicFramePr>
        <p:xfrm>
          <a:off x="6153911" y="2507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2245200"/>
              </a:tblGrid>
              <a:tr h="127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66"/>
                        </a:buClr>
                        <a:buSzPts val="1200"/>
                        <a:buFont typeface="Gulimche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3" name="Google Shape;933;p53"/>
          <p:cNvGraphicFramePr/>
          <p:nvPr/>
        </p:nvGraphicFramePr>
        <p:xfrm>
          <a:off x="3662435" y="2465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2245200"/>
              </a:tblGrid>
              <a:tr h="127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66"/>
                        </a:buClr>
                        <a:buSzPts val="1200"/>
                        <a:buFont typeface="Gulimche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4" name="Google Shape;934;p53"/>
          <p:cNvGraphicFramePr/>
          <p:nvPr/>
        </p:nvGraphicFramePr>
        <p:xfrm>
          <a:off x="1170961" y="2465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2245200"/>
              </a:tblGrid>
              <a:tr h="127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66"/>
                        </a:buClr>
                        <a:buSzPts val="1200"/>
                        <a:buFont typeface="Gulimche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5" name="Google Shape;935;p53"/>
          <p:cNvGraphicFramePr/>
          <p:nvPr/>
        </p:nvGraphicFramePr>
        <p:xfrm>
          <a:off x="979338" y="42782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{45D8D6A1-8E2E-4BD1-9240-B86D4B085E31}</a:tableStyleId>
              </a:tblPr>
              <a:tblGrid>
                <a:gridCol w="1243825"/>
                <a:gridCol w="2247375"/>
                <a:gridCol w="2247375"/>
                <a:gridCol w="2247375"/>
                <a:gridCol w="2247375"/>
              </a:tblGrid>
              <a:tr h="2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 분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 단위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월 단위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분기 단위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연간 단위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132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원격 모니터링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이상 감지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효율 분석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월간 설비점검 (안전관리자)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점검결과 분석 및 조치수립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계획, 대응(에이치에너지)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분기 설비점검 (안전관리자)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점검결과 분석 및 조치수립 계획, 대응(에이치에너지)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연간 설비점검 (안전관리자)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점검결과 분석 및 조치수립 계획, 대응(에이치에너지)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플랫폼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모니터링</a:t>
                      </a:r>
                      <a:endParaRPr sz="15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84201" lvl="0" marL="28800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현황파악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 현황 관리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 현황 관리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201" lvl="0" marL="28800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KR"/>
                        <a:buChar char="●"/>
                      </a:pPr>
                      <a:r>
                        <a:rPr i="0" lang="ko-KR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운영보고서 제출</a:t>
                      </a:r>
                      <a:endParaRPr sz="15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9050" marB="19050" marR="66675" marL="666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6" name="Google Shape;936;p53"/>
          <p:cNvSpPr/>
          <p:nvPr/>
        </p:nvSpPr>
        <p:spPr>
          <a:xfrm>
            <a:off x="878175" y="1289325"/>
            <a:ext cx="1023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1,700개 이상의 태양광 발전소 O&amp;M 경험으로 발전소별 유지보수 계획 수립 및 이행 중</a:t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빅데이터 기반 원격 효율 진단 및 고장 진단 플랫폼 보유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7" name="Google Shape;937;p53"/>
          <p:cNvSpPr txBox="1"/>
          <p:nvPr/>
        </p:nvSpPr>
        <p:spPr>
          <a:xfrm>
            <a:off x="1170950" y="2550075"/>
            <a:ext cx="22452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유지보수 조직운영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요구 분석 및 반영 총괄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8" name="Google Shape;938;p53"/>
          <p:cNvSpPr txBox="1"/>
          <p:nvPr/>
        </p:nvSpPr>
        <p:spPr>
          <a:xfrm>
            <a:off x="3662425" y="2550075"/>
            <a:ext cx="22452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태양광발전법인 </a:t>
            </a: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회계/정산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태양광발전법인 </a:t>
            </a: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세무/인사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각종 시스템관련 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문의사항 접수 및 처리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9" name="Google Shape;939;p53"/>
          <p:cNvSpPr txBox="1"/>
          <p:nvPr/>
        </p:nvSpPr>
        <p:spPr>
          <a:xfrm>
            <a:off x="6153898" y="2550075"/>
            <a:ext cx="22452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점검/정기검사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시설관리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장애 예방활동 및 점검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현장출동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0" name="Google Shape;940;p53"/>
          <p:cNvSpPr txBox="1"/>
          <p:nvPr/>
        </p:nvSpPr>
        <p:spPr>
          <a:xfrm>
            <a:off x="8645376" y="2550075"/>
            <a:ext cx="22452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정기안전관리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현장설비점검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장애 1차대응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1" name="Google Shape;941;p53"/>
          <p:cNvSpPr/>
          <p:nvPr/>
        </p:nvSpPr>
        <p:spPr>
          <a:xfrm>
            <a:off x="1170952" y="2025375"/>
            <a:ext cx="2245200" cy="5247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12250" lIns="9650" spcFirstLastPara="1" rIns="9650" wrap="square" tIns="12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총괄 책임자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2" name="Google Shape;942;p53"/>
          <p:cNvSpPr/>
          <p:nvPr/>
        </p:nvSpPr>
        <p:spPr>
          <a:xfrm>
            <a:off x="3662427" y="2025375"/>
            <a:ext cx="2245200" cy="5247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12250" lIns="9650" spcFirstLastPara="1" rIns="9650" wrap="square" tIns="12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지원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3" name="Google Shape;943;p53"/>
          <p:cNvSpPr/>
          <p:nvPr/>
        </p:nvSpPr>
        <p:spPr>
          <a:xfrm>
            <a:off x="6153902" y="2025375"/>
            <a:ext cx="2245200" cy="5247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12250" lIns="9650" spcFirstLastPara="1" rIns="9650" wrap="square" tIns="12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기술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8645377" y="2025375"/>
            <a:ext cx="2245200" cy="524700"/>
          </a:xfrm>
          <a:prstGeom prst="rect">
            <a:avLst/>
          </a:prstGeom>
          <a:solidFill>
            <a:srgbClr val="006DE6"/>
          </a:solidFill>
          <a:ln>
            <a:noFill/>
          </a:ln>
        </p:spPr>
        <p:txBody>
          <a:bodyPr anchorCtr="0" anchor="ctr" bIns="12250" lIns="9650" spcFirstLastPara="1" rIns="9650" wrap="square" tIns="12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현장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5" name="Google Shape;945;p53"/>
          <p:cNvSpPr/>
          <p:nvPr/>
        </p:nvSpPr>
        <p:spPr>
          <a:xfrm>
            <a:off x="878175" y="3956325"/>
            <a:ext cx="10233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단위 기간별 사후관리 항목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6" name="Google Shape;946;p53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사후관리 체계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54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54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54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-1. 관리운영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6" name="Google Shape;956;p54"/>
          <p:cNvSpPr txBox="1"/>
          <p:nvPr/>
        </p:nvSpPr>
        <p:spPr>
          <a:xfrm>
            <a:off x="3057415" y="1076480"/>
            <a:ext cx="8451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Smart </a:t>
            </a: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태양광 </a:t>
            </a:r>
            <a:r>
              <a:rPr b="1" i="0" lang="ko-KR" sz="1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발전소 유지관리 </a:t>
            </a: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플랫폼 적용</a:t>
            </a:r>
            <a:endParaRPr b="1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7" name="Google Shape;957;p54"/>
          <p:cNvSpPr/>
          <p:nvPr/>
        </p:nvSpPr>
        <p:spPr>
          <a:xfrm>
            <a:off x="619798" y="1657006"/>
            <a:ext cx="3628500" cy="467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1547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4"/>
          <p:cNvSpPr txBox="1"/>
          <p:nvPr/>
        </p:nvSpPr>
        <p:spPr>
          <a:xfrm>
            <a:off x="1807279" y="1791825"/>
            <a:ext cx="2347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국내 최초 AI 시스템 관리로 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올라가는 발전</a:t>
            </a:r>
            <a:r>
              <a:rPr b="1" lang="ko-KR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량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9" name="Google Shape;959;p54"/>
          <p:cNvSpPr/>
          <p:nvPr/>
        </p:nvSpPr>
        <p:spPr>
          <a:xfrm>
            <a:off x="828242" y="1829925"/>
            <a:ext cx="885900" cy="215400"/>
          </a:xfrm>
          <a:prstGeom prst="roundRect">
            <a:avLst>
              <a:gd fmla="val 12613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Point 1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60" name="Google Shape;96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926" y="3345907"/>
            <a:ext cx="3034094" cy="2917601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54"/>
          <p:cNvSpPr txBox="1"/>
          <p:nvPr/>
        </p:nvSpPr>
        <p:spPr>
          <a:xfrm>
            <a:off x="916926" y="2358093"/>
            <a:ext cx="3034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인공지능 기반 시스템 효율진단으로 문제파악부터 해결까지 신속하게 진행하여 발전시간 손실을 최소화합니다.</a:t>
            </a:r>
            <a:endParaRPr i="0" sz="1200" u="none" cap="none" strike="noStrike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2" name="Google Shape;962;p54"/>
          <p:cNvSpPr/>
          <p:nvPr/>
        </p:nvSpPr>
        <p:spPr>
          <a:xfrm>
            <a:off x="8018475" y="1657006"/>
            <a:ext cx="3628500" cy="467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1547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4"/>
          <p:cNvSpPr txBox="1"/>
          <p:nvPr/>
        </p:nvSpPr>
        <p:spPr>
          <a:xfrm>
            <a:off x="9205956" y="1791825"/>
            <a:ext cx="2347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24시간 태양광 전문가의 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발전소 관리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4" name="Google Shape;964;p54"/>
          <p:cNvSpPr/>
          <p:nvPr/>
        </p:nvSpPr>
        <p:spPr>
          <a:xfrm>
            <a:off x="8226919" y="1829925"/>
            <a:ext cx="885900" cy="215400"/>
          </a:xfrm>
          <a:prstGeom prst="roundRect">
            <a:avLst>
              <a:gd fmla="val 12613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Point </a:t>
            </a:r>
            <a:r>
              <a:rPr lang="ko-KR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5" name="Google Shape;965;p54"/>
          <p:cNvSpPr txBox="1"/>
          <p:nvPr/>
        </p:nvSpPr>
        <p:spPr>
          <a:xfrm>
            <a:off x="8315603" y="2358093"/>
            <a:ext cx="3034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모니터링을 통해 발전소의 긴급상황 발생 시 긴급대응고, 정기 현장점검을 통해 발전소를 안심하고 운영할 수 있도록 지원합니다.</a:t>
            </a:r>
            <a:endParaRPr i="0" sz="1200" u="none" cap="none" strike="noStrike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6" name="Google Shape;966;p54"/>
          <p:cNvSpPr/>
          <p:nvPr/>
        </p:nvSpPr>
        <p:spPr>
          <a:xfrm>
            <a:off x="4319137" y="1657006"/>
            <a:ext cx="3628500" cy="467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1547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4"/>
          <p:cNvSpPr txBox="1"/>
          <p:nvPr/>
        </p:nvSpPr>
        <p:spPr>
          <a:xfrm>
            <a:off x="5506618" y="1791825"/>
            <a:ext cx="2347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국내 유일 발전시간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C0C0C"/>
                </a:solidFill>
                <a:latin typeface="Noto Sans KR"/>
                <a:ea typeface="Noto Sans KR"/>
                <a:cs typeface="Noto Sans KR"/>
                <a:sym typeface="Noto Sans KR"/>
              </a:rPr>
              <a:t>100% 안심 보증</a:t>
            </a:r>
            <a:endParaRPr b="1" i="0" sz="1400" u="none" cap="none" strike="noStrike">
              <a:solidFill>
                <a:srgbClr val="0C0C0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8" name="Google Shape;968;p54"/>
          <p:cNvSpPr/>
          <p:nvPr/>
        </p:nvSpPr>
        <p:spPr>
          <a:xfrm>
            <a:off x="4527581" y="1829925"/>
            <a:ext cx="885900" cy="215400"/>
          </a:xfrm>
          <a:prstGeom prst="roundRect">
            <a:avLst>
              <a:gd fmla="val 12613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Point 2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9" name="Google Shape;969;p54"/>
          <p:cNvSpPr txBox="1"/>
          <p:nvPr/>
        </p:nvSpPr>
        <p:spPr>
          <a:xfrm>
            <a:off x="4616265" y="2358093"/>
            <a:ext cx="3034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ko-KR" sz="1200" u="none" cap="none" strike="noStrike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국내 최초이자 유일한 발전시간 보증제를 도입하여 날씨 등 다양한 원인으로 인한 발전시간 감소를 보장해드립니다.</a:t>
            </a:r>
            <a:endParaRPr i="0" sz="1200" u="none" cap="none" strike="noStrike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70" name="Google Shape;97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603" y="3453175"/>
            <a:ext cx="3126811" cy="266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798" y="1075460"/>
            <a:ext cx="2437616" cy="32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4"/>
          <p:cNvPicPr preferRelativeResize="0"/>
          <p:nvPr/>
        </p:nvPicPr>
        <p:blipFill rotWithShape="1">
          <a:blip r:embed="rId7">
            <a:alphaModFix/>
          </a:blip>
          <a:srcRect b="0" l="0" r="0" t="50313"/>
          <a:stretch/>
        </p:blipFill>
        <p:spPr>
          <a:xfrm>
            <a:off x="4399537" y="3643575"/>
            <a:ext cx="3449125" cy="257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55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0" name="Google Shape;980;p55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1" name="Google Shape;981;p55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4-1. 관리운영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2" name="Google Shape;982;p55"/>
          <p:cNvSpPr txBox="1"/>
          <p:nvPr/>
        </p:nvSpPr>
        <p:spPr>
          <a:xfrm>
            <a:off x="722025" y="1640800"/>
            <a:ext cx="10084200" cy="4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52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Medium"/>
              <a:buChar char="➢"/>
            </a:pPr>
            <a:r>
              <a:rPr b="1" lang="ko-KR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발전효율 저하 감지 프로세스</a:t>
            </a:r>
            <a:endParaRPr b="1" sz="15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효율저하 탐지 알고리즘을 기반으로 태양광 발전소의 이상을 탐지하여 원인을 진단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발전소 내 인버터, MPPT, 스트링 단위까지 세분화하여 정밀 진단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Medium"/>
              <a:buChar char="○"/>
            </a:pPr>
            <a:r>
              <a:rPr lang="ko-KR" sz="1300" u="sng">
                <a:solidFill>
                  <a:srgbClr val="0097A7"/>
                </a:solidFill>
                <a:latin typeface="Noto Sans Medium"/>
                <a:ea typeface="Noto Sans Medium"/>
                <a:cs typeface="Noto Sans Medium"/>
                <a:sym typeface="Noto Sa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진단현황 대시보드</a:t>
            </a:r>
            <a:b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</a:br>
            <a:r>
              <a:rPr lang="ko-KR" sz="11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미래 폐자원 에너지 솔루션 전문 기업 원광에스앤티 효율 저하 90% 수준의 진단기술 </a:t>
            </a:r>
            <a:r>
              <a:rPr lang="ko-KR" sz="1100" u="sng">
                <a:solidFill>
                  <a:srgbClr val="0097A7"/>
                </a:solidFill>
                <a:latin typeface="Noto Sans Medium"/>
                <a:ea typeface="Noto Sans Medium"/>
                <a:cs typeface="Noto Sans Medium"/>
                <a:sym typeface="Noto Sans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발표</a:t>
            </a:r>
            <a:endParaRPr sz="11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2752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"/>
              <a:buChar char="➢"/>
            </a:pPr>
            <a:r>
              <a:rPr b="1" lang="ko-KR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수익 손실 방지를 위한 사전 조치</a:t>
            </a:r>
            <a:endParaRPr b="1" sz="15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62551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매일 효율저하 탐지를 통해 장기간의 수익 손실을 방지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262551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일부 문제(스트링 단락, 모듈 오염, 접속 불량 등)는 육안으로 식별이 어렵고, 발전량 감소로만 드러나기 때문에 발전효율 저하 감지 알고리즘을 기반으로 조기에 발전소 이상을 감지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2752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"/>
              <a:buChar char="➢"/>
            </a:pPr>
            <a:r>
              <a:rPr b="1" lang="ko-KR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A/S 및 유지보수 효율화</a:t>
            </a:r>
            <a:endParaRPr b="1" sz="15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62551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발전효율 저하 진단 알고리즘을 통해 불필요한 현장 점검 최소화 ➡️ 유지보수 인건비 절감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-262551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Medium"/>
              <a:buChar char="○"/>
            </a:pPr>
            <a:r>
              <a:rPr lang="ko-KR" sz="1300">
                <a:solidFill>
                  <a:srgbClr val="000000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발전효율 저하 의심시 자동 알림 시스템으로 전국 3천여 개의 발전소를 매일 관리 </a:t>
            </a:r>
            <a:endParaRPr sz="1300">
              <a:solidFill>
                <a:srgbClr val="000000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983" name="Google Shape;983;p55"/>
          <p:cNvSpPr txBox="1"/>
          <p:nvPr/>
        </p:nvSpPr>
        <p:spPr>
          <a:xfrm>
            <a:off x="3057415" y="1076480"/>
            <a:ext cx="8451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: 최적 운영 알고리즘</a:t>
            </a:r>
            <a:endParaRPr b="1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84" name="Google Shape;984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798" y="1075460"/>
            <a:ext cx="2437616" cy="32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56"/>
          <p:cNvSpPr/>
          <p:nvPr/>
        </p:nvSpPr>
        <p:spPr>
          <a:xfrm>
            <a:off x="622250" y="1388150"/>
            <a:ext cx="7452000" cy="4959600"/>
          </a:xfrm>
          <a:prstGeom prst="roundRect">
            <a:avLst>
              <a:gd fmla="val 2549" name="adj"/>
            </a:avLst>
          </a:prstGeom>
          <a:solidFill>
            <a:srgbClr val="FFFFFF"/>
          </a:solidFill>
          <a:ln>
            <a:noFill/>
          </a:ln>
          <a:effectLst>
            <a:outerShdw blurRad="215900" sx="101000" rotWithShape="0" algn="ctr" sy="101000">
              <a:srgbClr val="000000">
                <a:alpha val="1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91" name="Google Shape;99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56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56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56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4-2. 사고대응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5" name="Google Shape;995;p56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이슈 대응 프로세스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996" name="Google Shape;996;p56"/>
          <p:cNvGrpSpPr/>
          <p:nvPr/>
        </p:nvGrpSpPr>
        <p:grpSpPr>
          <a:xfrm>
            <a:off x="8180841" y="1499154"/>
            <a:ext cx="3471148" cy="4876183"/>
            <a:chOff x="590550" y="2101677"/>
            <a:chExt cx="3388800" cy="4091101"/>
          </a:xfrm>
        </p:grpSpPr>
        <p:sp>
          <p:nvSpPr>
            <p:cNvPr id="997" name="Google Shape;997;p56"/>
            <p:cNvSpPr/>
            <p:nvPr/>
          </p:nvSpPr>
          <p:spPr>
            <a:xfrm>
              <a:off x="590550" y="2101678"/>
              <a:ext cx="3388800" cy="4091100"/>
            </a:xfrm>
            <a:prstGeom prst="roundRect">
              <a:avLst>
                <a:gd fmla="val 7710" name="adj"/>
              </a:avLst>
            </a:prstGeom>
            <a:solidFill>
              <a:srgbClr val="FFFFFF"/>
            </a:solidFill>
            <a:ln cap="flat" cmpd="sng" w="12700">
              <a:solidFill>
                <a:srgbClr val="556E8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8" name="Google Shape;998;p56"/>
            <p:cNvCxnSpPr>
              <a:stCxn id="999" idx="4"/>
            </p:cNvCxnSpPr>
            <p:nvPr/>
          </p:nvCxnSpPr>
          <p:spPr>
            <a:xfrm flipH="1" rot="-5400000">
              <a:off x="2604817" y="2412362"/>
              <a:ext cx="116400" cy="2193000"/>
            </a:xfrm>
            <a:prstGeom prst="bentConnector2">
              <a:avLst/>
            </a:prstGeom>
            <a:noFill/>
            <a:ln cap="flat" cmpd="sng" w="9525">
              <a:solidFill>
                <a:srgbClr val="394956"/>
              </a:solidFill>
              <a:prstDash val="solid"/>
              <a:miter lim="800000"/>
              <a:headEnd len="sm" w="sm" type="none"/>
              <a:tailEnd len="lg" w="lg" type="oval"/>
            </a:ln>
          </p:spPr>
        </p:cxnSp>
        <p:sp>
          <p:nvSpPr>
            <p:cNvPr id="1000" name="Google Shape;1000;p56"/>
            <p:cNvSpPr/>
            <p:nvPr/>
          </p:nvSpPr>
          <p:spPr>
            <a:xfrm>
              <a:off x="590550" y="2101677"/>
              <a:ext cx="3388800" cy="428400"/>
            </a:xfrm>
            <a:prstGeom prst="round2SameRect">
              <a:avLst>
                <a:gd fmla="val 38741" name="adj1"/>
                <a:gd fmla="val 0" name="adj2"/>
              </a:avLst>
            </a:prstGeom>
            <a:solidFill>
              <a:srgbClr val="556E82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</a:t>
              </a:r>
              <a:r>
                <a:rPr b="1" lang="ko-KR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</a:t>
              </a:r>
              <a:r>
                <a:rPr b="1" lang="ko-KR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</a:t>
              </a:r>
              <a:r>
                <a:rPr b="1" lang="ko-KR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 컨셉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99" name="Google Shape;999;p56"/>
            <p:cNvSpPr/>
            <p:nvPr/>
          </p:nvSpPr>
          <p:spPr>
            <a:xfrm>
              <a:off x="729367" y="2808362"/>
              <a:ext cx="1674300" cy="642300"/>
            </a:xfrm>
            <a:prstGeom prst="ellipse">
              <a:avLst/>
            </a:prstGeom>
            <a:solidFill>
              <a:srgbClr val="7993A7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6"/>
            <p:cNvSpPr txBox="1"/>
            <p:nvPr/>
          </p:nvSpPr>
          <p:spPr>
            <a:xfrm>
              <a:off x="1098733" y="2967350"/>
              <a:ext cx="1009500" cy="232500"/>
            </a:xfrm>
            <a:prstGeom prst="rect">
              <a:avLst/>
            </a:prstGeom>
            <a:solidFill>
              <a:srgbClr val="7993A7"/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2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Speedy</a:t>
              </a:r>
              <a:endParaRPr i="0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02" name="Google Shape;1002;p56"/>
            <p:cNvSpPr txBox="1"/>
            <p:nvPr/>
          </p:nvSpPr>
          <p:spPr>
            <a:xfrm>
              <a:off x="2403721" y="3008133"/>
              <a:ext cx="1427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 신속하게 파악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03" name="Google Shape;1003;p56"/>
            <p:cNvSpPr txBox="1"/>
            <p:nvPr/>
          </p:nvSpPr>
          <p:spPr>
            <a:xfrm>
              <a:off x="2370480" y="3685426"/>
              <a:ext cx="15636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 객관적으로 </a:t>
              </a:r>
              <a:endParaRPr i="1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예측가능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04" name="Google Shape;1004;p56"/>
            <p:cNvSpPr txBox="1"/>
            <p:nvPr/>
          </p:nvSpPr>
          <p:spPr>
            <a:xfrm>
              <a:off x="2403732" y="4647650"/>
              <a:ext cx="1427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 정확하게 분석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05" name="Google Shape;1005;p56"/>
            <p:cNvSpPr txBox="1"/>
            <p:nvPr/>
          </p:nvSpPr>
          <p:spPr>
            <a:xfrm>
              <a:off x="2419480" y="5402328"/>
              <a:ext cx="12474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 합리적으로 </a:t>
              </a:r>
              <a:endParaRPr i="1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ko-KR" sz="14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의사결정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06" name="Google Shape;1006;p56"/>
            <p:cNvCxnSpPr>
              <a:stCxn id="1007" idx="4"/>
            </p:cNvCxnSpPr>
            <p:nvPr/>
          </p:nvCxnSpPr>
          <p:spPr>
            <a:xfrm flipH="1" rot="-5400000">
              <a:off x="2621966" y="3223318"/>
              <a:ext cx="87000" cy="2188200"/>
            </a:xfrm>
            <a:prstGeom prst="bentConnector2">
              <a:avLst/>
            </a:prstGeom>
            <a:noFill/>
            <a:ln cap="flat" cmpd="sng" w="9525">
              <a:solidFill>
                <a:srgbClr val="394956"/>
              </a:solidFill>
              <a:prstDash val="solid"/>
              <a:miter lim="800000"/>
              <a:headEnd len="sm" w="sm" type="none"/>
              <a:tailEnd len="lg" w="lg" type="oval"/>
            </a:ln>
          </p:spPr>
        </p:cxnSp>
        <p:sp>
          <p:nvSpPr>
            <p:cNvPr id="1007" name="Google Shape;1007;p56"/>
            <p:cNvSpPr/>
            <p:nvPr/>
          </p:nvSpPr>
          <p:spPr>
            <a:xfrm>
              <a:off x="739016" y="3633118"/>
              <a:ext cx="1664700" cy="640800"/>
            </a:xfrm>
            <a:prstGeom prst="ellipse">
              <a:avLst/>
            </a:prstGeom>
            <a:solidFill>
              <a:srgbClr val="7993A7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6"/>
            <p:cNvSpPr txBox="1"/>
            <p:nvPr/>
          </p:nvSpPr>
          <p:spPr>
            <a:xfrm>
              <a:off x="914693" y="3824377"/>
              <a:ext cx="1344900" cy="232500"/>
            </a:xfrm>
            <a:prstGeom prst="rect">
              <a:avLst/>
            </a:prstGeom>
            <a:solidFill>
              <a:srgbClr val="7993A7"/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2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Measurable</a:t>
              </a:r>
              <a:endParaRPr i="0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09" name="Google Shape;1009;p56"/>
            <p:cNvCxnSpPr>
              <a:stCxn id="1010" idx="4"/>
            </p:cNvCxnSpPr>
            <p:nvPr/>
          </p:nvCxnSpPr>
          <p:spPr>
            <a:xfrm flipH="1" rot="-5400000">
              <a:off x="2626166" y="4042395"/>
              <a:ext cx="62700" cy="2172300"/>
            </a:xfrm>
            <a:prstGeom prst="bentConnector2">
              <a:avLst/>
            </a:prstGeom>
            <a:noFill/>
            <a:ln cap="flat" cmpd="sng" w="9525">
              <a:solidFill>
                <a:srgbClr val="394956"/>
              </a:solidFill>
              <a:prstDash val="solid"/>
              <a:miter lim="800000"/>
              <a:headEnd len="sm" w="sm" type="none"/>
              <a:tailEnd len="lg" w="lg" type="oval"/>
            </a:ln>
          </p:spPr>
        </p:cxnSp>
        <p:sp>
          <p:nvSpPr>
            <p:cNvPr id="1010" name="Google Shape;1010;p56"/>
            <p:cNvSpPr/>
            <p:nvPr/>
          </p:nvSpPr>
          <p:spPr>
            <a:xfrm>
              <a:off x="739016" y="4456395"/>
              <a:ext cx="1664700" cy="640800"/>
            </a:xfrm>
            <a:prstGeom prst="ellipse">
              <a:avLst/>
            </a:prstGeom>
            <a:solidFill>
              <a:srgbClr val="7993A7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6"/>
            <p:cNvSpPr txBox="1"/>
            <p:nvPr/>
          </p:nvSpPr>
          <p:spPr>
            <a:xfrm>
              <a:off x="1018788" y="4647636"/>
              <a:ext cx="1009500" cy="232500"/>
            </a:xfrm>
            <a:prstGeom prst="rect">
              <a:avLst/>
            </a:prstGeom>
            <a:solidFill>
              <a:srgbClr val="7993A7"/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2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Accurate</a:t>
              </a:r>
              <a:endParaRPr i="0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12" name="Google Shape;1012;p56"/>
            <p:cNvCxnSpPr>
              <a:stCxn id="1013" idx="4"/>
            </p:cNvCxnSpPr>
            <p:nvPr/>
          </p:nvCxnSpPr>
          <p:spPr>
            <a:xfrm flipH="1" rot="-5400000">
              <a:off x="2601432" y="4906172"/>
              <a:ext cx="112500" cy="2141100"/>
            </a:xfrm>
            <a:prstGeom prst="bentConnector2">
              <a:avLst/>
            </a:prstGeom>
            <a:noFill/>
            <a:ln cap="flat" cmpd="sng" w="9525">
              <a:solidFill>
                <a:srgbClr val="394956"/>
              </a:solidFill>
              <a:prstDash val="solid"/>
              <a:miter lim="800000"/>
              <a:headEnd len="sm" w="sm" type="none"/>
              <a:tailEnd len="lg" w="lg" type="oval"/>
            </a:ln>
          </p:spPr>
        </p:cxnSp>
        <p:sp>
          <p:nvSpPr>
            <p:cNvPr id="1013" name="Google Shape;1013;p56"/>
            <p:cNvSpPr/>
            <p:nvPr/>
          </p:nvSpPr>
          <p:spPr>
            <a:xfrm>
              <a:off x="754782" y="5279672"/>
              <a:ext cx="1664700" cy="640800"/>
            </a:xfrm>
            <a:prstGeom prst="ellipse">
              <a:avLst/>
            </a:prstGeom>
            <a:solidFill>
              <a:srgbClr val="7993A7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6"/>
            <p:cNvSpPr txBox="1"/>
            <p:nvPr/>
          </p:nvSpPr>
          <p:spPr>
            <a:xfrm>
              <a:off x="926545" y="5470916"/>
              <a:ext cx="1247400" cy="232500"/>
            </a:xfrm>
            <a:prstGeom prst="rect">
              <a:avLst/>
            </a:prstGeom>
            <a:solidFill>
              <a:srgbClr val="7993A7"/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2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Reasonable</a:t>
              </a:r>
              <a:endParaRPr i="0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015" name="Google Shape;1015;p56"/>
          <p:cNvSpPr/>
          <p:nvPr/>
        </p:nvSpPr>
        <p:spPr>
          <a:xfrm>
            <a:off x="1816327" y="3930303"/>
            <a:ext cx="1307074" cy="258844"/>
          </a:xfrm>
          <a:prstGeom prst="flowChartProcess">
            <a:avLst/>
          </a:prstGeom>
          <a:solidFill>
            <a:srgbClr val="D0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ko-KR" sz="1000">
                <a:latin typeface="Noto Sans KR"/>
                <a:ea typeface="Noto Sans KR"/>
                <a:cs typeface="Noto Sans KR"/>
                <a:sym typeface="Noto Sans KR"/>
              </a:rPr>
              <a:t>AI 고장진단 </a:t>
            </a:r>
            <a:endParaRPr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16" name="Google Shape;1016;p56"/>
          <p:cNvCxnSpPr>
            <a:endCxn id="1017" idx="0"/>
          </p:cNvCxnSpPr>
          <p:nvPr/>
        </p:nvCxnSpPr>
        <p:spPr>
          <a:xfrm flipH="1">
            <a:off x="2469864" y="4189203"/>
            <a:ext cx="300" cy="122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18" name="Google Shape;1018;p56"/>
          <p:cNvGrpSpPr/>
          <p:nvPr/>
        </p:nvGrpSpPr>
        <p:grpSpPr>
          <a:xfrm>
            <a:off x="801156" y="1687963"/>
            <a:ext cx="7042474" cy="4557039"/>
            <a:chOff x="877348" y="1459916"/>
            <a:chExt cx="7421724" cy="4937204"/>
          </a:xfrm>
        </p:grpSpPr>
        <p:sp>
          <p:nvSpPr>
            <p:cNvPr descr="도형03" id="1019" name="Google Shape;1019;p56"/>
            <p:cNvSpPr/>
            <p:nvPr/>
          </p:nvSpPr>
          <p:spPr>
            <a:xfrm>
              <a:off x="1873055" y="1459916"/>
              <a:ext cx="1377600" cy="285300"/>
            </a:xfrm>
            <a:prstGeom prst="rect">
              <a:avLst/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680"/>
                <a:buFont typeface="Malgun Gothic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 운영 조직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descr="도형03" id="1020" name="Google Shape;1020;p56"/>
            <p:cNvSpPr/>
            <p:nvPr/>
          </p:nvSpPr>
          <p:spPr>
            <a:xfrm>
              <a:off x="3563829" y="1459916"/>
              <a:ext cx="1377600" cy="285300"/>
            </a:xfrm>
            <a:prstGeom prst="rect">
              <a:avLst/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680"/>
                <a:buFont typeface="Malgun Gothic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유지보수 조직</a:t>
              </a:r>
              <a:endParaRPr b="1" i="0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descr="도형03" id="1021" name="Google Shape;1021;p56"/>
            <p:cNvSpPr/>
            <p:nvPr/>
          </p:nvSpPr>
          <p:spPr>
            <a:xfrm>
              <a:off x="5280071" y="1459916"/>
              <a:ext cx="1272000" cy="285300"/>
            </a:xfrm>
            <a:prstGeom prst="rect">
              <a:avLst/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680"/>
                <a:buFont typeface="Malgun Gothic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지원 조직</a:t>
              </a:r>
              <a:endParaRPr b="1" i="0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22" name="Google Shape;1022;p56"/>
            <p:cNvCxnSpPr/>
            <p:nvPr/>
          </p:nvCxnSpPr>
          <p:spPr>
            <a:xfrm>
              <a:off x="3414638" y="1459916"/>
              <a:ext cx="0" cy="49368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23" name="Google Shape;1023;p56"/>
            <p:cNvCxnSpPr/>
            <p:nvPr/>
          </p:nvCxnSpPr>
          <p:spPr>
            <a:xfrm>
              <a:off x="5079314" y="1459916"/>
              <a:ext cx="0" cy="49368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024" name="Google Shape;1024;p56"/>
            <p:cNvSpPr/>
            <p:nvPr/>
          </p:nvSpPr>
          <p:spPr>
            <a:xfrm>
              <a:off x="5227318" y="1913902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 계획 수립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25" name="Google Shape;1025;p56"/>
            <p:cNvSpPr/>
            <p:nvPr/>
          </p:nvSpPr>
          <p:spPr>
            <a:xfrm>
              <a:off x="3563829" y="2249807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기술지원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26" name="Google Shape;1026;p56"/>
            <p:cNvSpPr/>
            <p:nvPr/>
          </p:nvSpPr>
          <p:spPr>
            <a:xfrm>
              <a:off x="1867797" y="2253977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 및 예방정비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27" name="Google Shape;1027;p56"/>
            <p:cNvCxnSpPr>
              <a:stCxn id="1024" idx="1"/>
              <a:endCxn id="1026" idx="0"/>
            </p:cNvCxnSpPr>
            <p:nvPr/>
          </p:nvCxnSpPr>
          <p:spPr>
            <a:xfrm flipH="1">
              <a:off x="2556418" y="2054121"/>
              <a:ext cx="2670900" cy="199800"/>
            </a:xfrm>
            <a:prstGeom prst="bentConnector2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28" name="Google Shape;1028;p56"/>
            <p:cNvSpPr/>
            <p:nvPr/>
          </p:nvSpPr>
          <p:spPr>
            <a:xfrm>
              <a:off x="1947790" y="3445554"/>
              <a:ext cx="1377462" cy="280439"/>
            </a:xfrm>
            <a:prstGeom prst="flowChartProcess">
              <a:avLst/>
            </a:prstGeom>
            <a:gradFill>
              <a:gsLst>
                <a:gs pos="0">
                  <a:srgbClr val="FFA09D"/>
                </a:gs>
                <a:gs pos="35000">
                  <a:srgbClr val="FFBCBC"/>
                </a:gs>
                <a:gs pos="100000">
                  <a:srgbClr val="FFE2E2"/>
                </a:gs>
              </a:gsLst>
              <a:lin ang="16200038" scaled="0"/>
            </a:gradFill>
            <a:ln cap="flat" cmpd="sng" w="9525">
              <a:solidFill>
                <a:srgbClr val="BD4B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문제발생</a:t>
              </a:r>
              <a:endParaRPr b="1"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29" name="Google Shape;1029;p56"/>
            <p:cNvCxnSpPr>
              <a:stCxn id="1025" idx="1"/>
              <a:endCxn id="1026" idx="3"/>
            </p:cNvCxnSpPr>
            <p:nvPr/>
          </p:nvCxnSpPr>
          <p:spPr>
            <a:xfrm flipH="1">
              <a:off x="3245229" y="2390026"/>
              <a:ext cx="318600" cy="4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0" name="Google Shape;1030;p56"/>
            <p:cNvCxnSpPr>
              <a:stCxn id="1028" idx="2"/>
              <a:endCxn id="1015" idx="0"/>
            </p:cNvCxnSpPr>
            <p:nvPr/>
          </p:nvCxnSpPr>
          <p:spPr>
            <a:xfrm flipH="1">
              <a:off x="2635921" y="3725993"/>
              <a:ext cx="600" cy="163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1" name="Google Shape;1031;p56"/>
            <p:cNvSpPr/>
            <p:nvPr/>
          </p:nvSpPr>
          <p:spPr>
            <a:xfrm>
              <a:off x="877348" y="1857870"/>
              <a:ext cx="797400" cy="672300"/>
            </a:xfrm>
            <a:prstGeom prst="ellipse">
              <a:avLst/>
            </a:prstGeom>
            <a:solidFill>
              <a:srgbClr val="DAE5F1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2" name="Google Shape;1032;p56"/>
            <p:cNvSpPr/>
            <p:nvPr/>
          </p:nvSpPr>
          <p:spPr>
            <a:xfrm>
              <a:off x="943809" y="1913902"/>
              <a:ext cx="664500" cy="560400"/>
            </a:xfrm>
            <a:prstGeom prst="ellipse">
              <a:avLst/>
            </a:prstGeom>
            <a:solidFill>
              <a:srgbClr val="366092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lgun Gothic"/>
                <a:buNone/>
              </a:pPr>
              <a:r>
                <a:rPr b="1" i="0" lang="ko-KR" sz="11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3" name="Google Shape;1033;p56"/>
            <p:cNvSpPr/>
            <p:nvPr/>
          </p:nvSpPr>
          <p:spPr>
            <a:xfrm>
              <a:off x="877348" y="3685760"/>
              <a:ext cx="797400" cy="672300"/>
            </a:xfrm>
            <a:prstGeom prst="ellipse">
              <a:avLst/>
            </a:prstGeom>
            <a:solidFill>
              <a:srgbClr val="DAE5F1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4" name="Google Shape;1034;p56"/>
            <p:cNvSpPr/>
            <p:nvPr/>
          </p:nvSpPr>
          <p:spPr>
            <a:xfrm>
              <a:off x="943809" y="3741792"/>
              <a:ext cx="664500" cy="560400"/>
            </a:xfrm>
            <a:prstGeom prst="ellipse">
              <a:avLst/>
            </a:prstGeom>
            <a:solidFill>
              <a:srgbClr val="366092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lgun Gothic"/>
                <a:buNone/>
              </a:pPr>
              <a:r>
                <a:rPr b="1" lang="ko-KR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이슈</a:t>
              </a:r>
              <a:endParaRPr b="1" i="0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5" name="Google Shape;1035;p56"/>
            <p:cNvSpPr/>
            <p:nvPr/>
          </p:nvSpPr>
          <p:spPr>
            <a:xfrm>
              <a:off x="877348" y="5724820"/>
              <a:ext cx="797400" cy="672300"/>
            </a:xfrm>
            <a:prstGeom prst="ellipse">
              <a:avLst/>
            </a:prstGeom>
            <a:solidFill>
              <a:srgbClr val="DAE5F1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6" name="Google Shape;1036;p56"/>
            <p:cNvSpPr/>
            <p:nvPr/>
          </p:nvSpPr>
          <p:spPr>
            <a:xfrm>
              <a:off x="943809" y="5780851"/>
              <a:ext cx="664500" cy="560400"/>
            </a:xfrm>
            <a:prstGeom prst="ellipse">
              <a:avLst/>
            </a:prstGeom>
            <a:solidFill>
              <a:srgbClr val="366092"/>
            </a:solidFill>
            <a:ln cap="flat" cmpd="sng" w="25400">
              <a:solidFill>
                <a:srgbClr val="2440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Malgun Gothic"/>
                <a:buNone/>
              </a:pPr>
              <a:r>
                <a:rPr b="1" i="0" lang="ko-KR" sz="11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조치보고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37" name="Google Shape;1037;p56"/>
            <p:cNvCxnSpPr>
              <a:stCxn id="1031" idx="4"/>
              <a:endCxn id="1033" idx="0"/>
            </p:cNvCxnSpPr>
            <p:nvPr/>
          </p:nvCxnSpPr>
          <p:spPr>
            <a:xfrm>
              <a:off x="1276048" y="2530170"/>
              <a:ext cx="0" cy="1155600"/>
            </a:xfrm>
            <a:prstGeom prst="straightConnector1">
              <a:avLst/>
            </a:prstGeom>
            <a:noFill/>
            <a:ln cap="flat" cmpd="sng" w="38100">
              <a:solidFill>
                <a:srgbClr val="244061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1038" name="Google Shape;1038;p56"/>
            <p:cNvCxnSpPr>
              <a:stCxn id="1033" idx="4"/>
              <a:endCxn id="1035" idx="0"/>
            </p:cNvCxnSpPr>
            <p:nvPr/>
          </p:nvCxnSpPr>
          <p:spPr>
            <a:xfrm>
              <a:off x="1276048" y="4358060"/>
              <a:ext cx="0" cy="1366800"/>
            </a:xfrm>
            <a:prstGeom prst="straightConnector1">
              <a:avLst/>
            </a:prstGeom>
            <a:noFill/>
            <a:ln cap="flat" cmpd="sng" w="38100">
              <a:solidFill>
                <a:srgbClr val="244061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1039" name="Google Shape;1039;p56"/>
            <p:cNvSpPr/>
            <p:nvPr/>
          </p:nvSpPr>
          <p:spPr>
            <a:xfrm>
              <a:off x="3563829" y="2663052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정기점검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0" name="Google Shape;1040;p56"/>
            <p:cNvSpPr/>
            <p:nvPr/>
          </p:nvSpPr>
          <p:spPr>
            <a:xfrm>
              <a:off x="7052349" y="2253398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안전관리보고서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1" name="Google Shape;1041;p56"/>
            <p:cNvSpPr/>
            <p:nvPr/>
          </p:nvSpPr>
          <p:spPr>
            <a:xfrm>
              <a:off x="7047850" y="2633199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정기점검 보고서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descr="도형03" id="1042" name="Google Shape;1042;p56"/>
            <p:cNvSpPr/>
            <p:nvPr/>
          </p:nvSpPr>
          <p:spPr>
            <a:xfrm>
              <a:off x="7027072" y="1466764"/>
              <a:ext cx="1272000" cy="285300"/>
            </a:xfrm>
            <a:prstGeom prst="rect">
              <a:avLst/>
            </a:prstGeom>
            <a:solidFill>
              <a:srgbClr val="548135"/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680"/>
                <a:buFont typeface="Malgun Gothic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보고</a:t>
              </a:r>
              <a:endParaRPr b="1" i="0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3" name="Google Shape;1043;p56"/>
            <p:cNvSpPr/>
            <p:nvPr/>
          </p:nvSpPr>
          <p:spPr>
            <a:xfrm>
              <a:off x="7052349" y="1917210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 계획서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44" name="Google Shape;1044;p56"/>
            <p:cNvCxnSpPr/>
            <p:nvPr/>
          </p:nvCxnSpPr>
          <p:spPr>
            <a:xfrm>
              <a:off x="6826316" y="1459916"/>
              <a:ext cx="0" cy="49368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045" name="Google Shape;1045;p56"/>
            <p:cNvSpPr/>
            <p:nvPr/>
          </p:nvSpPr>
          <p:spPr>
            <a:xfrm>
              <a:off x="3563829" y="3417590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설비보전 업무 수행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6" name="Google Shape;1046;p56"/>
            <p:cNvSpPr/>
            <p:nvPr/>
          </p:nvSpPr>
          <p:spPr>
            <a:xfrm>
              <a:off x="5227318" y="3039562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설비보전 계획 수립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47" name="Google Shape;1047;p56"/>
            <p:cNvCxnSpPr>
              <a:stCxn id="1046" idx="1"/>
              <a:endCxn id="1045" idx="0"/>
            </p:cNvCxnSpPr>
            <p:nvPr/>
          </p:nvCxnSpPr>
          <p:spPr>
            <a:xfrm flipH="1">
              <a:off x="4252618" y="3179781"/>
              <a:ext cx="974700" cy="237900"/>
            </a:xfrm>
            <a:prstGeom prst="bentConnector2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48" name="Google Shape;1048;p56"/>
            <p:cNvSpPr/>
            <p:nvPr/>
          </p:nvSpPr>
          <p:spPr>
            <a:xfrm>
              <a:off x="7047852" y="3037789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설비보전 계획서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9" name="Google Shape;1049;p56"/>
            <p:cNvSpPr/>
            <p:nvPr/>
          </p:nvSpPr>
          <p:spPr>
            <a:xfrm>
              <a:off x="7047851" y="3417590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수행보고서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50" name="Google Shape;1050;p56"/>
            <p:cNvCxnSpPr>
              <a:stCxn id="1024" idx="2"/>
              <a:endCxn id="1039" idx="3"/>
            </p:cNvCxnSpPr>
            <p:nvPr/>
          </p:nvCxnSpPr>
          <p:spPr>
            <a:xfrm rot="5400000">
              <a:off x="5124199" y="2011490"/>
              <a:ext cx="609000" cy="974700"/>
            </a:xfrm>
            <a:prstGeom prst="bentConnector2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51" name="Google Shape;1051;p56"/>
            <p:cNvSpPr/>
            <p:nvPr/>
          </p:nvSpPr>
          <p:spPr>
            <a:xfrm>
              <a:off x="3563829" y="4302105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ko-KR" sz="1000">
                  <a:latin typeface="Noto Sans KR"/>
                  <a:ea typeface="Noto Sans KR"/>
                  <a:cs typeface="Noto Sans KR"/>
                  <a:sym typeface="Noto Sans KR"/>
                </a:rPr>
                <a:t>원격 대응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52" name="Google Shape;1052;p56"/>
            <p:cNvCxnSpPr>
              <a:stCxn id="1017" idx="3"/>
              <a:endCxn id="1051" idx="1"/>
            </p:cNvCxnSpPr>
            <p:nvPr/>
          </p:nvCxnSpPr>
          <p:spPr>
            <a:xfrm>
              <a:off x="3324650" y="4442324"/>
              <a:ext cx="23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53" name="Google Shape;1053;p56"/>
            <p:cNvSpPr/>
            <p:nvPr/>
          </p:nvSpPr>
          <p:spPr>
            <a:xfrm>
              <a:off x="1908049" y="4775315"/>
              <a:ext cx="1455739" cy="431800"/>
            </a:xfrm>
            <a:prstGeom prst="flowChartDecision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현장조치가능여부</a:t>
              </a:r>
              <a:endParaRPr sz="1300"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54" name="Google Shape;1054;p56"/>
            <p:cNvSpPr/>
            <p:nvPr/>
          </p:nvSpPr>
          <p:spPr>
            <a:xfrm>
              <a:off x="3563829" y="4850996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ko-KR" sz="10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현장조치계획수립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55" name="Google Shape;1055;p56"/>
            <p:cNvSpPr/>
            <p:nvPr/>
          </p:nvSpPr>
          <p:spPr>
            <a:xfrm>
              <a:off x="2715813" y="5480141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ko-KR" sz="10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현장조치 수행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56" name="Google Shape;1056;p56"/>
            <p:cNvCxnSpPr>
              <a:stCxn id="1017" idx="2"/>
              <a:endCxn id="1053" idx="0"/>
            </p:cNvCxnSpPr>
            <p:nvPr/>
          </p:nvCxnSpPr>
          <p:spPr>
            <a:xfrm>
              <a:off x="2635919" y="4582543"/>
              <a:ext cx="0" cy="192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7" name="Google Shape;1057;p56"/>
            <p:cNvCxnSpPr>
              <a:stCxn id="1053" idx="2"/>
              <a:endCxn id="1055" idx="0"/>
            </p:cNvCxnSpPr>
            <p:nvPr/>
          </p:nvCxnSpPr>
          <p:spPr>
            <a:xfrm flipH="1" rot="-5400000">
              <a:off x="2883719" y="4959315"/>
              <a:ext cx="273000" cy="768600"/>
            </a:xfrm>
            <a:prstGeom prst="bentConnector3">
              <a:avLst>
                <a:gd fmla="val 50005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8" name="Google Shape;1058;p56"/>
            <p:cNvCxnSpPr>
              <a:stCxn id="1054" idx="2"/>
              <a:endCxn id="1055" idx="0"/>
            </p:cNvCxnSpPr>
            <p:nvPr/>
          </p:nvCxnSpPr>
          <p:spPr>
            <a:xfrm rot="5400000">
              <a:off x="3654210" y="4881684"/>
              <a:ext cx="348600" cy="848100"/>
            </a:xfrm>
            <a:prstGeom prst="bentConnector3">
              <a:avLst>
                <a:gd fmla="val 50015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9" name="Google Shape;1059;p56"/>
            <p:cNvCxnSpPr>
              <a:stCxn id="1053" idx="3"/>
              <a:endCxn id="1054" idx="1"/>
            </p:cNvCxnSpPr>
            <p:nvPr/>
          </p:nvCxnSpPr>
          <p:spPr>
            <a:xfrm>
              <a:off x="3363788" y="4991215"/>
              <a:ext cx="200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60" name="Google Shape;1060;p56"/>
            <p:cNvSpPr txBox="1"/>
            <p:nvPr/>
          </p:nvSpPr>
          <p:spPr>
            <a:xfrm>
              <a:off x="2384677" y="5201132"/>
              <a:ext cx="2610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87FF"/>
                </a:buClr>
                <a:buSzPts val="900"/>
                <a:buFont typeface="Arial"/>
                <a:buNone/>
              </a:pPr>
              <a:r>
                <a:rPr b="1" lang="ko-KR" sz="900">
                  <a:solidFill>
                    <a:srgbClr val="1187FF"/>
                  </a:solidFill>
                  <a:latin typeface="Corbel"/>
                  <a:ea typeface="Corbel"/>
                  <a:cs typeface="Corbel"/>
                  <a:sym typeface="Corbel"/>
                </a:rPr>
                <a:t>Y</a:t>
              </a:r>
              <a:endParaRPr/>
            </a:p>
          </p:txBody>
        </p:sp>
        <p:sp>
          <p:nvSpPr>
            <p:cNvPr id="1061" name="Google Shape;1061;p56"/>
            <p:cNvSpPr txBox="1"/>
            <p:nvPr/>
          </p:nvSpPr>
          <p:spPr>
            <a:xfrm>
              <a:off x="3307250" y="4774736"/>
              <a:ext cx="2610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87FF"/>
                </a:buClr>
                <a:buSzPts val="900"/>
                <a:buFont typeface="Arial"/>
                <a:buNone/>
              </a:pPr>
              <a:r>
                <a:rPr b="1" lang="ko-KR" sz="900">
                  <a:solidFill>
                    <a:srgbClr val="1187FF"/>
                  </a:solidFill>
                  <a:latin typeface="Corbel"/>
                  <a:ea typeface="Corbel"/>
                  <a:cs typeface="Corbel"/>
                  <a:sym typeface="Corbel"/>
                </a:rPr>
                <a:t>N</a:t>
              </a:r>
              <a:endParaRPr/>
            </a:p>
          </p:txBody>
        </p:sp>
        <p:sp>
          <p:nvSpPr>
            <p:cNvPr id="1062" name="Google Shape;1062;p56"/>
            <p:cNvSpPr/>
            <p:nvPr/>
          </p:nvSpPr>
          <p:spPr>
            <a:xfrm>
              <a:off x="3563829" y="5938381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조치사항 기록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63" name="Google Shape;1063;p56"/>
            <p:cNvCxnSpPr>
              <a:stCxn id="1064" idx="1"/>
              <a:endCxn id="1054" idx="3"/>
            </p:cNvCxnSpPr>
            <p:nvPr/>
          </p:nvCxnSpPr>
          <p:spPr>
            <a:xfrm rot="10800000">
              <a:off x="4941422" y="4991334"/>
              <a:ext cx="281400" cy="1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65" name="Google Shape;1065;p56"/>
            <p:cNvSpPr/>
            <p:nvPr/>
          </p:nvSpPr>
          <p:spPr>
            <a:xfrm>
              <a:off x="5229651" y="5938381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결과분석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64" name="Google Shape;1064;p56"/>
            <p:cNvSpPr/>
            <p:nvPr/>
          </p:nvSpPr>
          <p:spPr>
            <a:xfrm>
              <a:off x="5222822" y="4852315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기술지원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066" name="Google Shape;1066;p56"/>
            <p:cNvCxnSpPr>
              <a:stCxn id="1055" idx="2"/>
              <a:endCxn id="1062" idx="1"/>
            </p:cNvCxnSpPr>
            <p:nvPr/>
          </p:nvCxnSpPr>
          <p:spPr>
            <a:xfrm flipH="1" rot="-5400000">
              <a:off x="3325194" y="5839929"/>
              <a:ext cx="318000" cy="159300"/>
            </a:xfrm>
            <a:prstGeom prst="bentConnector2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7" name="Google Shape;1067;p56"/>
            <p:cNvCxnSpPr>
              <a:stCxn id="1062" idx="3"/>
              <a:endCxn id="1065" idx="1"/>
            </p:cNvCxnSpPr>
            <p:nvPr/>
          </p:nvCxnSpPr>
          <p:spPr>
            <a:xfrm>
              <a:off x="4941291" y="6078600"/>
              <a:ext cx="2883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68" name="Google Shape;1068;p56"/>
            <p:cNvSpPr/>
            <p:nvPr/>
          </p:nvSpPr>
          <p:spPr>
            <a:xfrm>
              <a:off x="7052349" y="5938381"/>
              <a:ext cx="1221300" cy="280500"/>
            </a:xfrm>
            <a:prstGeom prst="foldedCorner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i="0" lang="ko-KR" sz="1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조치결과보고서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17" name="Google Shape;1017;p56"/>
            <p:cNvSpPr/>
            <p:nvPr/>
          </p:nvSpPr>
          <p:spPr>
            <a:xfrm>
              <a:off x="1947188" y="4302105"/>
              <a:ext cx="1377462" cy="280438"/>
            </a:xfrm>
            <a:prstGeom prst="flowChartProcess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ko-KR" sz="1000">
                  <a:latin typeface="Noto Sans KR"/>
                  <a:ea typeface="Noto Sans KR"/>
                  <a:cs typeface="Noto Sans KR"/>
                  <a:sym typeface="Noto Sans KR"/>
                </a:rPr>
                <a:t>원격대응 가능 여부</a:t>
              </a:r>
              <a:endParaRPr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069" name="Google Shape;1069;p56"/>
          <p:cNvSpPr txBox="1"/>
          <p:nvPr/>
        </p:nvSpPr>
        <p:spPr>
          <a:xfrm>
            <a:off x="3123410" y="4189205"/>
            <a:ext cx="247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7FF"/>
              </a:buClr>
              <a:buSzPts val="900"/>
              <a:buFont typeface="Arial"/>
              <a:buNone/>
            </a:pPr>
            <a:r>
              <a:rPr b="1" lang="ko-KR" sz="900">
                <a:solidFill>
                  <a:srgbClr val="1187FF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endParaRPr/>
          </a:p>
        </p:txBody>
      </p:sp>
      <p:sp>
        <p:nvSpPr>
          <p:cNvPr id="1070" name="Google Shape;1070;p56"/>
          <p:cNvSpPr txBox="1"/>
          <p:nvPr/>
        </p:nvSpPr>
        <p:spPr>
          <a:xfrm>
            <a:off x="2222365" y="4545792"/>
            <a:ext cx="247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7FF"/>
              </a:buClr>
              <a:buSzPts val="900"/>
              <a:buFont typeface="Arial"/>
              <a:buNone/>
            </a:pPr>
            <a:r>
              <a:rPr b="1" lang="ko-KR" sz="900">
                <a:solidFill>
                  <a:srgbClr val="1187FF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/>
          </a:p>
        </p:txBody>
      </p:sp>
      <p:sp>
        <p:nvSpPr>
          <p:cNvPr id="1071" name="Google Shape;1071;p56"/>
          <p:cNvSpPr/>
          <p:nvPr/>
        </p:nvSpPr>
        <p:spPr>
          <a:xfrm>
            <a:off x="4945845" y="4311299"/>
            <a:ext cx="1307074" cy="258844"/>
          </a:xfrm>
          <a:prstGeom prst="flowChartProcess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i="0" lang="ko-KR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조치사항 기록</a:t>
            </a:r>
            <a:endParaRPr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72" name="Google Shape;1072;p56"/>
          <p:cNvCxnSpPr>
            <a:stCxn id="1051" idx="3"/>
            <a:endCxn id="1071" idx="1"/>
          </p:cNvCxnSpPr>
          <p:nvPr/>
        </p:nvCxnSpPr>
        <p:spPr>
          <a:xfrm>
            <a:off x="4657431" y="4440726"/>
            <a:ext cx="288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3" name="Google Shape;1073;p56"/>
          <p:cNvSpPr/>
          <p:nvPr/>
        </p:nvSpPr>
        <p:spPr>
          <a:xfrm>
            <a:off x="6637427" y="4311286"/>
            <a:ext cx="1158900" cy="258900"/>
          </a:xfrm>
          <a:prstGeom prst="foldedCorner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i="0" lang="ko-KR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조치결과보고서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667" y="359605"/>
            <a:ext cx="946332" cy="17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57"/>
          <p:cNvSpPr txBox="1"/>
          <p:nvPr/>
        </p:nvSpPr>
        <p:spPr>
          <a:xfrm>
            <a:off x="1126945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ko-KR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1" name="Google Shape;1081;p57"/>
          <p:cNvCxnSpPr/>
          <p:nvPr/>
        </p:nvCxnSpPr>
        <p:spPr>
          <a:xfrm>
            <a:off x="538726" y="663967"/>
            <a:ext cx="1110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2" name="Google Shape;1082;p57"/>
          <p:cNvSpPr txBox="1"/>
          <p:nvPr/>
        </p:nvSpPr>
        <p:spPr>
          <a:xfrm>
            <a:off x="448236" y="159287"/>
            <a:ext cx="580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latin typeface="Noto Sans KR"/>
                <a:ea typeface="Noto Sans KR"/>
                <a:cs typeface="Noto Sans KR"/>
                <a:sym typeface="Noto Sans KR"/>
              </a:rPr>
              <a:t>4-2. 사고대응 계획</a:t>
            </a:r>
            <a:endParaRPr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3" name="Google Shape;1083;p57"/>
          <p:cNvSpPr/>
          <p:nvPr/>
        </p:nvSpPr>
        <p:spPr>
          <a:xfrm>
            <a:off x="749750" y="1436925"/>
            <a:ext cx="102333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태양광발전소 종합공제 보험 가입 (EGI엔지니어링공제)</a:t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4" name="Google Shape;1084;p57"/>
          <p:cNvSpPr/>
          <p:nvPr/>
        </p:nvSpPr>
        <p:spPr>
          <a:xfrm>
            <a:off x="898175" y="5417300"/>
            <a:ext cx="102333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제3자 배상책임보험 담보 가입 </a:t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○"/>
            </a:pPr>
            <a:r>
              <a:rPr lang="ko-KR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피보험자가 보험기간 중 건설공장에 직접적으로 관련하여 발생한 사고로 인하여 타인의 신체에 장해를 입히거나 타인의 재물을 망가지게 하여 법률상 배상책임을 부담함으로써 입은 손해를 보상</a:t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085" name="Google Shape;1085;p57"/>
          <p:cNvGraphicFramePr/>
          <p:nvPr/>
        </p:nvGraphicFramePr>
        <p:xfrm>
          <a:off x="1147704" y="172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{7463107B-007C-4EBA-A4AD-BE17A3334324}</a:tableStyleId>
              </a:tblPr>
              <a:tblGrid>
                <a:gridCol w="2030825"/>
                <a:gridCol w="6256050"/>
                <a:gridCol w="1696900"/>
              </a:tblGrid>
              <a:tr h="3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sz="13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보장내용/가입금액</a:t>
                      </a:r>
                      <a:endParaRPr sz="13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담보대상</a:t>
                      </a:r>
                      <a:endParaRPr sz="13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06D"/>
                    </a:solidFill>
                  </a:tcPr>
                </a:tc>
              </a:tr>
              <a:tr h="79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재물손해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90550" lvl="0" marL="2520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Noto Sans KR"/>
                        <a:buChar char="●"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화재, 폭발, 도난 자연재해 등 사고로 인한 태양광 설비 자체 손해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CC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※ 가입금액 : 태양광설비 설치 금액</a:t>
                      </a:r>
                      <a:endParaRPr sz="1200">
                        <a:solidFill>
                          <a:srgbClr val="CC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 설비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배상책임손해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(자연재해배상포함)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90550" lvl="0" marL="2520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Noto Sans KR"/>
                        <a:buChar char="●"/>
                      </a:pPr>
                      <a:r>
                        <a:rPr lang="ko-KR" sz="13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태양광 설비 운영 중 제3자의 신체 또는 재물에 발생한 법률상 배상책임 손해</a:t>
                      </a:r>
                      <a:endParaRPr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-190550" lvl="0" marL="2520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Noto Sans KR"/>
                        <a:buChar char="●"/>
                      </a:pPr>
                      <a:r>
                        <a:rPr lang="ko-KR" sz="13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자연재해로 인한 제3자 피해 포함</a:t>
                      </a:r>
                      <a:endParaRPr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CC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※ 가입금액 : 보상한도액 1억/3억/5억 중 택1</a:t>
                      </a:r>
                      <a:endParaRPr sz="1200">
                        <a:solidFill>
                          <a:srgbClr val="CC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제3자 피해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기업휴지손해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90550" lvl="0" marL="2520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Noto Sans KR"/>
                        <a:buChar char="●"/>
                      </a:pPr>
                      <a:r>
                        <a:rPr lang="ko-KR" sz="13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재물손해사고의 결과로 발전이 중단 또는 휴지되어 생긴 발전 이익 상실 손해</a:t>
                      </a:r>
                      <a:endParaRPr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CC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※ 가입금액 : 1일운영시간 X 운영일수 X 매전단가 X 태양광용량</a:t>
                      </a:r>
                      <a:endParaRPr sz="1200">
                        <a:solidFill>
                          <a:srgbClr val="CC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발전이익 상실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원상복구비용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90550" lvl="0" marL="2520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Noto Sans KR"/>
                        <a:buChar char="●"/>
                      </a:pPr>
                      <a:r>
                        <a:rPr lang="ko-KR" sz="13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계약에서 정한 원상복구 의무 및 비용 담보</a:t>
                      </a:r>
                      <a:endParaRPr sz="13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rgbClr val="CC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※ 가입금액 : 임대차 계약상에 정한 금액</a:t>
                      </a:r>
                      <a:endParaRPr b="1" sz="1200">
                        <a:solidFill>
                          <a:srgbClr val="CC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제3자 피해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0500" marB="30500" marR="60975" marL="60975" anchor="ctr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6" name="Google Shape;1086;p57"/>
          <p:cNvSpPr txBox="1"/>
          <p:nvPr/>
        </p:nvSpPr>
        <p:spPr>
          <a:xfrm>
            <a:off x="521219" y="857405"/>
            <a:ext cx="109872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225" lIns="22225" spcFirstLastPara="1" rIns="22225" wrap="square" tIns="222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latin typeface="Noto Sans KR"/>
                <a:ea typeface="Noto Sans KR"/>
                <a:cs typeface="Noto Sans KR"/>
                <a:sym typeface="Noto Sans KR"/>
              </a:rPr>
              <a:t>태양광 보험 가입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8"/>
          <p:cNvSpPr/>
          <p:nvPr/>
        </p:nvSpPr>
        <p:spPr>
          <a:xfrm>
            <a:off x="644525" y="0"/>
            <a:ext cx="5181600" cy="6858000"/>
          </a:xfrm>
          <a:prstGeom prst="rect">
            <a:avLst/>
          </a:prstGeom>
          <a:solidFill>
            <a:schemeClr val="dk1">
              <a:alpha val="749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8"/>
          <p:cNvSpPr txBox="1"/>
          <p:nvPr/>
        </p:nvSpPr>
        <p:spPr>
          <a:xfrm>
            <a:off x="957298" y="3059694"/>
            <a:ext cx="4681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ko-KR" sz="3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감사합니다. </a:t>
            </a:r>
            <a:endParaRPr b="1" sz="3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